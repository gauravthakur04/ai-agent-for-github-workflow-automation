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9942500" cy="6761150"/>
  <p:embeddedFontLst>
    <p:embeddedFont>
      <p:font typeface="Helvetica Neue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>
        <p15:guide id="1" orient="horz" pos="213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  <p:ext uri="GoogleSlidesCustomDataVersion2">
      <go:slidesCustomData xmlns:go="http://customooxmlschemas.google.com/" r:id="rId50" roundtripDataSignature="AMtx7mjQ/sIW5/9BCDal6NGaNrv3j56n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0CBA43-1E77-4C9B-B9C0-AEC927BD453B}">
  <a:tblStyle styleId="{FD0CBA43-1E77-4C9B-B9C0-AEC927BD453B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  <a:tblStyle styleId="{A337A828-F025-436C-9CAE-9FE6D046153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521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30" orient="horz"/>
        <p:guide pos="3133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HelveticaNeue-regular.fntdata"/><Relationship Id="rId41" Type="http://schemas.openxmlformats.org/officeDocument/2006/relationships/slide" Target="slides/slide35.xml"/><Relationship Id="rId44" Type="http://schemas.openxmlformats.org/officeDocument/2006/relationships/font" Target="fonts/HelveticaNeue-italic.fntdata"/><Relationship Id="rId43" Type="http://schemas.openxmlformats.org/officeDocument/2006/relationships/font" Target="fonts/HelveticaNeue-bold.fntdata"/><Relationship Id="rId46" Type="http://schemas.openxmlformats.org/officeDocument/2006/relationships/font" Target="fonts/RobotoMono-regular.fntdata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3322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35625" y="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E3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438900"/>
            <a:ext cx="43322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35625" y="643890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5635625" y="643890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196ae085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8" name="Google Shape;98;g3ae196ae085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e196ae085_0_0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196ae085_0_47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ae196ae085_0_47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196ae085_0_52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e196ae085_0_52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e196ae085_4_3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e196ae085_4_3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e196ae085_4_3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196ae085_4_11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e196ae085_4_11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e196ae085_4_11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196ae085_4_1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e196ae085_4_1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e196ae085_4_19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e196ae085_4_27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e196ae085_4_27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e196ae085_4_27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44ff445e_2_5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e44ff445e_2_5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ae44ff445e_2_5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e196ae085_2_8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e196ae085_2_8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e196ae085_2_8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e4c832852_0_3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e4c832852_0_3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e4c832852_0_3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463ba5af0_0_4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463ba5af0_0_4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8463ba5af0_0_4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e196ae085_0_58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e196ae085_0_58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ctrTitle"/>
          </p:nvPr>
        </p:nvSpPr>
        <p:spPr>
          <a:xfrm>
            <a:off x="755373" y="685800"/>
            <a:ext cx="7901609" cy="1615966"/>
          </a:xfrm>
          <a:prstGeom prst="rect">
            <a:avLst/>
          </a:prstGeom>
          <a:solidFill>
            <a:srgbClr val="D2691E"/>
          </a:solidFill>
          <a:ln cap="flat" cmpd="sng" w="9525">
            <a:solidFill>
              <a:srgbClr val="D26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" type="body"/>
          </p:nvPr>
        </p:nvSpPr>
        <p:spPr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SzPts val="2250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600"/>
              <a:buChar char="o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Char char="4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cxnSp>
        <p:nvCxnSpPr>
          <p:cNvPr id="22" name="Google Shape;22;p31"/>
          <p:cNvCxnSpPr/>
          <p:nvPr/>
        </p:nvCxnSpPr>
        <p:spPr>
          <a:xfrm>
            <a:off x="579120" y="6658235"/>
            <a:ext cx="7934960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549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1200"/>
              <a:buFont typeface="Arimo"/>
              <a:buChar char="4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Helvetica Neue"/>
              <a:buChar char="–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FF0066"/>
              </a:buClr>
              <a:buSzPts val="12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29"/>
          <p:cNvSpPr txBox="1"/>
          <p:nvPr/>
        </p:nvSpPr>
        <p:spPr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Monday, September 8, 2025</a:t>
            </a:r>
            <a:endParaRPr b="1" i="0" sz="1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JUIT Office Photos | Glassdoor" id="13" name="Google Shape;13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49072" y="42901"/>
            <a:ext cx="815248" cy="67900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9"/>
          <p:cNvSpPr txBox="1"/>
          <p:nvPr/>
        </p:nvSpPr>
        <p:spPr>
          <a:xfrm>
            <a:off x="123673" y="6687228"/>
            <a:ext cx="8694256" cy="1953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02060"/>
                </a:solidFill>
                <a:latin typeface="Palatino"/>
                <a:ea typeface="Palatino"/>
                <a:cs typeface="Palatino"/>
                <a:sym typeface="Palatino"/>
              </a:rPr>
              <a:t>       </a:t>
            </a:r>
            <a:r>
              <a:rPr b="0" i="0" lang="en-US" sz="900" u="none" cap="none" strike="noStrike">
                <a:solidFill>
                  <a:srgbClr val="002060"/>
                </a:solidFill>
                <a:latin typeface="Palatino"/>
                <a:ea typeface="Palatino"/>
                <a:cs typeface="Palatino"/>
                <a:sym typeface="Palatino"/>
              </a:rPr>
              <a:t>Major Project – I (18B19CI791) Mid-Term Evaluation | Department of CSE &amp; IT | AY 2025-26. </a:t>
            </a:r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8798560" y="6613912"/>
            <a:ext cx="259243" cy="246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rgbClr val="00206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6" name="Google Shape;16;p29"/>
          <p:cNvSpPr txBox="1"/>
          <p:nvPr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5493"/>
                </a:solidFill>
                <a:latin typeface="Palatino"/>
                <a:ea typeface="Palatino"/>
                <a:cs typeface="Palatino"/>
                <a:sym typeface="Palatino"/>
              </a:rPr>
              <a:t>‹#›</a:t>
            </a:fld>
            <a:r>
              <a:rPr b="0" i="0" lang="en-US" sz="900" u="none" cap="none" strike="noStrike">
                <a:solidFill>
                  <a:srgbClr val="005493"/>
                </a:solidFill>
                <a:latin typeface="Palatino"/>
                <a:ea typeface="Palatino"/>
                <a:cs typeface="Palatino"/>
                <a:sym typeface="Palatino"/>
              </a:rPr>
              <a:t>.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0" y="3511380"/>
            <a:ext cx="9144000" cy="759871"/>
          </a:xfrm>
          <a:prstGeom prst="rect">
            <a:avLst/>
          </a:prstGeom>
          <a:solidFill>
            <a:srgbClr val="0037A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AI Agent for GitHub Workflow Automation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457427" y="2108091"/>
            <a:ext cx="6229141" cy="1069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- I (18B19CI791) | AY 2025-26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Mid-Term Evaluation | Sept 29 – Oct 03, 2025.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517798" y="4498606"/>
            <a:ext cx="36207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No.: 61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 (s)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Kritika Gupta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(221030038)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Gaurav Thakur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(221030056)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Khwaja Abdul Razzaq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(221030089)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Muskan Sharma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(221030330)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4871438" y="5041029"/>
            <a:ext cx="4118400" cy="1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Supervisor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Dr. Vivek Kumar Sehgal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Professor and Head of Dept., Dept. of CSE &amp; IT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57188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2492" y="-165253"/>
            <a:ext cx="1178805" cy="89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4901" y="160424"/>
            <a:ext cx="1015707" cy="345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IT Office Photos | Glassdoor" id="33" name="Google Shape;3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17" y="93342"/>
            <a:ext cx="815248" cy="67900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 txBox="1"/>
          <p:nvPr/>
        </p:nvSpPr>
        <p:spPr>
          <a:xfrm>
            <a:off x="-2" y="601361"/>
            <a:ext cx="9144000" cy="14112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Jaypee University of Information Technology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Palatino"/>
              <a:buNone/>
            </a:pPr>
            <a:r>
              <a:rPr b="1" i="0" lang="en-US" sz="2600" u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and Information Technology</a:t>
            </a:r>
            <a:endParaRPr b="1" i="0" sz="2600" u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77125" y="772300"/>
            <a:ext cx="4340400" cy="58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7" lvl="0" marL="357187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Review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Done (after Mid-Term Evaluation)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Design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Tools, Technologies and Languages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Results and Evaluation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Learnings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Contribution and Attendance</a:t>
            </a:r>
            <a:endParaRPr>
              <a:solidFill>
                <a:schemeClr val="dk1"/>
              </a:solidFill>
            </a:endParaRPr>
          </a:p>
          <a:p>
            <a:pPr indent="-134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5045675" y="772300"/>
            <a:ext cx="36738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Supervisor Interactions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Plan</a:t>
            </a:r>
            <a:endParaRPr>
              <a:solidFill>
                <a:schemeClr val="dk1"/>
              </a:solidFill>
            </a:endParaRPr>
          </a:p>
          <a:p>
            <a:pPr indent="-261937" lvl="0" marL="357187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>
            <p:ph type="title"/>
          </p:nvPr>
        </p:nvSpPr>
        <p:spPr>
          <a:xfrm>
            <a:off x="40640" y="61372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is widely used for collaboration and version control, but non-technical team members often struggle to perform basic tasks like creating issues, checking pull requests, or tracking activity. This leads to frequent interruptions for developers and slows overall project progress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solve this problem, we developed an </a:t>
            </a: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AI-based conversational agent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allows users to interact with GitHub using </a:t>
            </a: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natural language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The system understands user intent, converts it into GitHub REST/GraphQL API actions, and performs operations such as issue creation, PR management, and activity summarization.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project aims to make GitHub more accessible to non-technical users, reduce developer dependency, improve communication, and enhance team productivity.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77118" y="804232"/>
            <a:ext cx="8956800" cy="5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Non-technical users struggle to use GitHub for basic tasks like creating issues, checking pull requests, and tracking project updates.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Developers get interrupted frequently to perform simple GitHub operations for non-technical team members.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results in delays, reduced productivity, and communication gaps within the team.GitHub’s interface and workflows require technical knowledge, making it difficult for non-developers to participate effectively.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need for a system that allows users to interact with GitHub using </a:t>
            </a: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language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instead of commands or menus.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goal is to build an </a:t>
            </a: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understands user intent and performs GitHub operations through REST/GraphQL APIs automatically.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primary objectives of this project are: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❖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develop an AI-powered agent capable of understanding natural language queries and autonomously performing routine to medium-complexity GitHub operations such as issue creation, pull request management, and repository activity tracking.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❖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design and implement an intelligent integration between Large Language Models (LLMs) and GitHub APIs (REST/GraphQL) that ensures accurate interpretation of user intent, reliable execution of repository actions, and effective handling of errors or ambiguities.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❖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enhance collaboration and inclusivity in software development teams by providing non-technical stakeholders with an accessible, user-friendly interface—through which they can interact with GitHub repositories using plain language, thereby reducing dependency on developers and improving project efficiency.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❖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an AI-powered agent that: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○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code review checks (linting, formatting, testing).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○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Analyzes pull requests and commit messages using NLP.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type="title"/>
          </p:nvPr>
        </p:nvSpPr>
        <p:spPr>
          <a:xfrm>
            <a:off x="77115" y="543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 b="0"/>
          </a:p>
        </p:txBody>
      </p:sp>
      <p:sp>
        <p:nvSpPr>
          <p:cNvPr id="66" name="Google Shape;66;p6"/>
          <p:cNvSpPr txBox="1"/>
          <p:nvPr/>
        </p:nvSpPr>
        <p:spPr>
          <a:xfrm>
            <a:off x="93643" y="86398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7" name="Google Shape;67;p6"/>
          <p:cNvGraphicFramePr/>
          <p:nvPr/>
        </p:nvGraphicFramePr>
        <p:xfrm>
          <a:off x="-7" y="7485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805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No.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&amp;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 </a:t>
                      </a:r>
                      <a:b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[Citation]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</a:t>
                      </a:r>
                      <a:b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(Year)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Techniques/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Gaps Identified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Anurag Pindoriya, Janki Velani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Advancements in GitHub Automation and Workflow: A Comprehensive Exploration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specified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Review-based study on GitHub automation &amp; workflows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Highlights recent advancements in GitHub automation, explores workflow optimization techniques and tools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experimental evaluation; limited to literature review insights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Xinyu Zhang, Siddharth Muralee, Sourag Cherupattamoolayil, Aravind Machiry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 the Effectiveness of Large Language Models for GitHub Workflows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Purdue University / Preprint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Empirical evaluation of LLMs for CI/CD, workflow maintenance, code review automation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Shows LLMs can assist in workflow debugging, auto-fix, and action recommendations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Early-stage work; lacks large-scale industrial deployment evidence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2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 Fai Wong, Shangxin Guo, Ching Nam Hang, Siu Wai Ho, Chee Wei Tan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Natural Language Generation and Understanding of Big Code for AI-Assisted Programming: A Review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 University of Hong Kong, Univ. of Adelaide, NTU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review of big code understanding, NL2Code, Code2NL, AI programming assistants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Summarizes methods enabling code summarization, generation, and comprehension using AI techniques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Review-only; no new framework proposed; future integration with modern LLMs suggested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Kinsman, T.; Wessel, M.; Gerosa, M. A.; Treude, C.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Do Software Developers Use GitHub Actions to Automate Their Workflows?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MSR 2021 (Mining Software Repositories)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Regression Discontinuity Design; analysis of 416,266 GitHub repos; commit &amp; PR metric mining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~0.7% of repos adopted GitHub Actions; adoption correlates with more rejected PRs and fewer commits in merged PRs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 is small; private repos excluded; possible confounding variables weren’t fully controlled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 (cont…)</a:t>
            </a:r>
            <a:endParaRPr b="0"/>
          </a:p>
        </p:txBody>
      </p:sp>
      <p:sp>
        <p:nvSpPr>
          <p:cNvPr id="73" name="Google Shape;73;p7"/>
          <p:cNvSpPr txBox="1"/>
          <p:nvPr/>
        </p:nvSpPr>
        <p:spPr>
          <a:xfrm>
            <a:off x="93593" y="724556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4" name="Google Shape;74;p7"/>
          <p:cNvGraphicFramePr/>
          <p:nvPr/>
        </p:nvGraphicFramePr>
        <p:xfrm>
          <a:off x="110168" y="7245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818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No.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&amp;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 </a:t>
                      </a:r>
                      <a:b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[Citation]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</a:t>
                      </a:r>
                      <a:b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(Year)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Techniques/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Gaps Identified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45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Zheng, L.; Li, S.; Huang, X.; Huang, J.;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Why Do GitHub Actions Workflows Fail? An Empirical Study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ACM / 2024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 classification of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375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failed workflow runs across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260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Java projects (log mining, error taxonomy)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Focused on Java; only failed runs; ambiguous root causes in some cases; limited generalizability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Focused on Java; only failed runs; ambiguous root causes in some cases; limited generalizability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9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Rostami Mazrae, P.; Decan, A.; Mens, T.; Wessel, M.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Empirical Study of the Evolution of GitHub Actions Workflows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SSRN / to be published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Mixed-method: qualitative analysis of 439 modified workflows + quantitative over 31K+ repos with 131K+ workflow versions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7 conceptual change types; median 2 workflow files per repo; small changes are common; workflows change ~8.4% per week; need tooling for fine-grained maintenance, better debugging &amp; validation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SSRN preprint (not peer reviewed yet); limited to open source public repos; may miss context of why changes were made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29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Decan, A.; Mens, T.; Onsori Delicheh, H.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 the Outdatedness of Workflows in the GitHub Actions Ecosystem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of Systems &amp; Software, 2023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Empirical analysis of ~1M workflows from 22K+ repos over Nov 2019–Sep 2022; metrics: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technical lag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opportunity lag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workflows use outdated Action releases; median lag ~7 months; many workflows had opportunity to update but didn’t (~9 months)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Doesn’t deeply examine reasons for not updating; only public repos; doesn’t consider private / organizational constraints; potential tool support not fully explored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95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Ceka, I.; Pujar, S.; Manotas, I.; Kaiser, G.; Ray, B.; Ramji, S.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Does LLM Reasoning Work for Code? A Survey and a Call to Action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 of reasoning paradigms, taxonomy, benchmark analysis across tasks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Proposes taxonomy of reasoning techniques, highlights under-explored approaches, maps performance on common benchmarks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survey, lacks novel empirical validation; real-world deployment of reasoning techniques not deeply evaluated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80" name="Google Shape;80;p8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81" name="Google Shape;81;p8"/>
          <p:cNvGraphicFramePr/>
          <p:nvPr/>
        </p:nvGraphicFramePr>
        <p:xfrm>
          <a:off x="134051" y="7245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80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Author &amp;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Paper Title 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[Citation]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Journal/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Conference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Tools/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Techniques/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Findings/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Gaps Identified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6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Jin, H.; Chen, H.; Lu, Q.; Zhu, L.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Towards Advancing Code Generation with Large Language Models: A Research Roadmap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Framework of six layers (input, orchestration, development, validation, etc.); analysis of challenges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Presents layered roadmap for improving LLM-based code generation and discusses difficulties in robustness and trustworthiness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Conceptual roadmap; lacks concrete experiments or evaluation to validate layers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6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Wang, J.; Zhang, Z.; He, Y.; et al.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Enhancing Code LLMs with Reinforcement Learning in Code Generation: A Survey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(2024)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Systematic literature review of RL techniques applied to code generation; benchmark &amp; dataset discussion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Highlights RL’s role in compiler optimization, resource allocation, tools; outlines challenges and future directions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survey, lacks new experiments; integrating RL in large codebases remains less explored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26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11.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Jiang, J.; Wang, F.; Shen, J.; Kim, S.; Kim, S.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Survey on Large Language Models for Code Generation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(2024)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review; taxonomy of components such as data, tuning, evaluation; empirical comparison on benchmarks (HumanEval, MBPP)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an up-to-date classification of techniques, empirical comparisons, identifies gaps like evaluation metrics, ethical concerns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Being a survey, it does not propose novel models; fast pace of field may mean some techniques are quickly outdated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6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Xin Zhou, Kisub Kim, Ting Zhang, Martin Weyssow, Luís F. Gomes, Guang Yang, David Lo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LLM-as-Judge Metric for Bridging the Gap with Human Evaluation in SE Tasks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metric “SWE-Judge” using LLMs as evaluators; compared against human judgments across SE tasks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SWE-Judge correlates better with human evaluations than existing metrics on tasks like code generation, program repair, summarization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Preprint (not peer reviewed); possible bias if LLM aligns too closely with human style; generalization to other domains needs testing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 (cont…)</a:t>
            </a:r>
            <a:endParaRPr b="0"/>
          </a:p>
        </p:txBody>
      </p:sp>
      <p:sp>
        <p:nvSpPr>
          <p:cNvPr id="87" name="Google Shape;87;p9"/>
          <p:cNvSpPr txBox="1"/>
          <p:nvPr/>
        </p:nvSpPr>
        <p:spPr>
          <a:xfrm>
            <a:off x="93643" y="724556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" name="Google Shape;88;p9"/>
          <p:cNvGraphicFramePr/>
          <p:nvPr/>
        </p:nvGraphicFramePr>
        <p:xfrm>
          <a:off x="110168" y="881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760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No.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&amp;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 </a:t>
                      </a:r>
                      <a:b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[Citation]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</a:t>
                      </a:r>
                      <a:b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(Year)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Techniques/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Limitations/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Gaps Identified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(No authors listed)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AI2Agent: An End-to-End Framework for Deploying AI Projects as Autonomous Agents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(2025)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Framework combining guideline execution, self-adaptive debugging, case-based learning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Enables AI projects to run autonomously with less human intervention (agentic deployment)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Lacks large-scale empirical evaluation; complexity of debugging autonomous systems not fully explored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Tula Masterman, Sandi Besen, Mason Sawtell, Alex Chao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Landscape of Emerging AI Agent Architectures for Reasoning, Planning, and Tool Calling: A Survey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(2024)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 of agent architectures, reasoning &amp; planning, tool use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taxonomy of agent designs (single / multi), highlights trade-offs and open challenges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Survey-only; lacks new architecture proposal; fast-paced field may quickly 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outdated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parts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Satyadhar Joshi —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Review of Generative AI and DevOps Pipelines: CI/CD, Agentic Automation, MLOps Integration, and Large Language Models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Preprints / 2025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 of ~50 works (2023–2025) on integration of generative AI with DevOps, CI/CD, IaC, agents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Summarizes trends: AI-driven pipeline automation, agentic workflows, cloud-native DevOps enhancements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 a review, it does not present new experiments; may miss very recent works; depth of each topic is limited by breadth coverage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Pablo Valenzuela-Toledo, Alexandre Bergel, Timo Kehrer, Oscar Nierstrasz –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Hidden Costs of Automation: An Empirical Study on GitHub Actions Workflow Maintenance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20th IEEE/ACM International Conference on Mining Software Repositories (MSR 2023)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Empirical study on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700+ OSS GitHub repositories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using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GitHub Actions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workflows; data mining; statistical analysis.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Found that workflows require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frequent maintenance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(due to dependency updates, configuration changes, and deprecated features). Maintenance effort is often underestimated and comparable to code maintenance.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open-source projects on GitHub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(may not generalize to private/enterprise repos). Study focuses only on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GitHub Actions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not other CI/CD platforms.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 (cont…)</a:t>
            </a:r>
            <a:endParaRPr b="0"/>
          </a:p>
        </p:txBody>
      </p:sp>
      <p:sp>
        <p:nvSpPr>
          <p:cNvPr id="94" name="Google Shape;94;p10"/>
          <p:cNvSpPr txBox="1"/>
          <p:nvPr/>
        </p:nvSpPr>
        <p:spPr>
          <a:xfrm>
            <a:off x="-7" y="644456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95" name="Google Shape;95;p10"/>
          <p:cNvGraphicFramePr/>
          <p:nvPr/>
        </p:nvGraphicFramePr>
        <p:xfrm>
          <a:off x="110168" y="644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757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No.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Author &amp; 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Paper Title </a:t>
                      </a:r>
                      <a:b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[Citation]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Journal/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Conference</a:t>
                      </a:r>
                      <a:b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(Year)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Tools/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Techniques/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Findings/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Results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</a:t>
                      </a:r>
                      <a:endParaRPr sz="10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Gaps Identified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45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17.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Kaiyuan Liu, Youcheng Pan, Yang Xiang, Daojing He, Jing Li, Yexing Du, Tianrun Gao -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ProjectEval: A Benchmark for Programming Agents Automated Evaluation on Project-Level Code Generation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Automated Evaluation: Utilizes user interaction simulation for testing, for example, using Selenium for website tasks and Python's </a:t>
                      </a:r>
                      <a:r>
                        <a:rPr lang="en-US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subprocess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for console tasks .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LLM agents perform poorly on the benchmark, with even the state-of-the-art model, GPT-4o, achieving only a 15% Pass@5 score .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benchmark primarily focuses on the Django framework, which may not align with other common design patterns .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199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18.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Debalina Ghosh Paul, Hong Zhu and Ian Bayley-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Benchmarks and Metrics for Evaluations of Code Generation: A Critical Review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 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Benchmarks Reviewed: A wide range of benchmarks such as HumanEval, MBPP, APPS, DS-1000, CoderEval, and ClassEval 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Conflicting and Unrealistic Evaluations: Current evaluation results for LLMs often conflict with each other and do not accurately reflect the real-world experiences of users 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Benchmark Diversity: Most benchmarks are constructed from a single source, leading to a lack of diversity and potentially skewed results.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457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19.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Mohammad Baqar, Saba Naqvi, Rajat Khanda-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AI-Augmented CI/CD Pipelines: From Code Commit to Production with Autonomous Decisions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cs.AI (arXiv)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AI-Augmented CI/CD pipelines using LLMs and autonomous agents; A trust-tier framework for staged autonomy;Evaluation using DevOps Research and Assessment (DORA) metrics. 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Led to significant improvements in DORA metrics: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 reduction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lead time for changes;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28% increase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deployment frequency ;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26% decrease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the change failure rate;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26% reduction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mean time to recovery </a:t>
                      </a:r>
                      <a:endParaRPr b="0"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paper points out a major gap in the field: the lack of standardized, publicly available benchmarks and datasets specifically designed for evaluating the decision-making capabilities of AI agents in CI/CD pipelines.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9B"/>
                    </a:solidFill>
                  </a:tcPr>
                </a:tc>
              </a:tr>
              <a:tr h="134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20.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Asaf Yehudai, Lilach Eden, Alan Li, Guy Uziel, Yilun Zhao, Roy Bar-Haim, Arman Cohan, Michal Shmueli-Scheuer- </a:t>
                      </a:r>
                      <a:r>
                        <a:rPr i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 on Evaluation of LLM-based Agents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arXiv preprint</a:t>
                      </a:r>
                      <a:endParaRPr b="0"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survey methodology analyzing evaluation across four dimensions:agent capabilities, generalist agent benchmarks, evaluation frameworks and metrics</a:t>
                      </a:r>
                      <a:endParaRPr b="0"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Shift to Realism: There is a clear move away from simple, static environments toward more realistic and complex benchmarks that use real-world data and dynamic interactions </a:t>
                      </a:r>
                      <a:endParaRPr b="0"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Notes lack of standardized evaluation for agentic behaviors , sparse coverage of safety/cost metrics, and need for benchmarks that better measure robustness and real-world deployment criteria.</a:t>
                      </a:r>
                      <a:endParaRPr b="0"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196ae085_0_0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Done (after Mid-Term Evaluation)</a:t>
            </a:r>
            <a:endParaRPr/>
          </a:p>
        </p:txBody>
      </p:sp>
      <p:sp>
        <p:nvSpPr>
          <p:cNvPr id="102" name="Google Shape;102;g3ae196ae085_0_0"/>
          <p:cNvSpPr txBox="1"/>
          <p:nvPr/>
        </p:nvSpPr>
        <p:spPr>
          <a:xfrm>
            <a:off x="77125" y="804225"/>
            <a:ext cx="8956800" cy="59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</a:t>
            </a: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Design &amp; Architecture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Completed low-level system design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Added intent recognition layer &amp; API execution layer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Finalized GitHub REST + GraphQL integration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2.Data Preparation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Created structured </a:t>
            </a:r>
            <a:r>
              <a:rPr i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commit_pr</a:t>
            </a: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dataset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 scripts for GH Archive data extraction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Cleaned, filtered, and validated datasets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3.Backend Implementation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Developed FastAPI backend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Implemented GitHub operations: issues, PRs, commits, summaries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Added error handling, logging, and fallback flow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Integrated rule-based + NLP intent matching=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4.Database Integration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Designed MongoDB schema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Implemented user–repository mapping storage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Validated database using MongoDB Compass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</a:t>
            </a:r>
            <a:endParaRPr/>
          </a:p>
        </p:txBody>
      </p:sp>
      <p:sp>
        <p:nvSpPr>
          <p:cNvPr id="108" name="Google Shape;108;p11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Google Shape;10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825" y="804225"/>
            <a:ext cx="4305300" cy="554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 </a:t>
            </a:r>
            <a:r>
              <a:rPr b="0" lang="en-US" sz="2400"/>
              <a:t>(cont…)</a:t>
            </a:r>
            <a:endParaRPr b="0"/>
          </a:p>
        </p:txBody>
      </p:sp>
      <p:sp>
        <p:nvSpPr>
          <p:cNvPr id="115" name="Google Shape;115;p12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 Layers: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Event Ingestion Layer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Listens to GitHub events (push, PR, merge).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Decision Engine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Uses ML/NLP to analyze workflow logs &amp; commits.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Execution Layer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Triggers GitHub Actions (e.g., run tests, merge PR).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Feedback &amp; Monitoring Layer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Provides real-time reports to developers.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Flow Example: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○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creates a pull request.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○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 reviews commit messages, runs static analysis, predicts potential issues.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○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confidence is high → Auto-merge PR.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○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issues found → Add review comments and assign to developer.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Tools, Technologies and Languages</a:t>
            </a:r>
            <a:endParaRPr b="0"/>
          </a:p>
        </p:txBody>
      </p:sp>
      <p:sp>
        <p:nvSpPr>
          <p:cNvPr id="121" name="Google Shape;121;p14"/>
          <p:cNvSpPr txBox="1"/>
          <p:nvPr/>
        </p:nvSpPr>
        <p:spPr>
          <a:xfrm>
            <a:off x="93643" y="680656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Programming Languages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3.12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Backend, API development, LLM processing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JavaScript (React/Node)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Frontend UI + integration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AI/ML Frameworks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OpenAI LLM API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Intent extraction, summaries, natural-language interpretation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Hugging Face</a:t>
            </a: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Transformers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NLP tasks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Scikit-learn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Classifier + rule-based logic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Workflow &amp; Automation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FastAPI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Main backend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REST API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Issues, PRs, events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GraphQL API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Efficient repo queries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Tools, Technologies and Languages (cont…)</a:t>
            </a:r>
            <a:endParaRPr b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34793" y="724556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Backend &amp; API Development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MongoDB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Logs, message history, metadata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JSON datasets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commit_pr / PR metadata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Database &amp; Storage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Docker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Containerized deployment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 Code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Development IDE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API testing</a:t>
            </a:r>
            <a:b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Git/GitHub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Repo integration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 Deployment &amp; Tools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Docker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Containerize and deploy AI Agent.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 Code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Main IDE for coding, testing, and debugging.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Git/GitHub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Version control and collaboration.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e196ae085_0_47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Dataset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g3ae196ae085_0_47" title="Screenshot 2025-12-07 at 10.35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00" y="827255"/>
            <a:ext cx="8227548" cy="535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ae196ae085_0_47"/>
          <p:cNvSpPr txBox="1"/>
          <p:nvPr/>
        </p:nvSpPr>
        <p:spPr>
          <a:xfrm>
            <a:off x="1215075" y="6260750"/>
            <a:ext cx="59313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Figure 2: Structure of commit_pr dataset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e196ae085_0_52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40" name="Google Shape;140;g3ae196ae085_0_52"/>
          <p:cNvSpPr txBox="1"/>
          <p:nvPr/>
        </p:nvSpPr>
        <p:spPr>
          <a:xfrm>
            <a:off x="134800" y="724550"/>
            <a:ext cx="8956800" cy="51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1" name="Google Shape;141;g3ae196ae085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00" y="1019425"/>
            <a:ext cx="8196649" cy="49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ae196ae085_0_5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e196ae085_0_52"/>
          <p:cNvSpPr txBox="1"/>
          <p:nvPr/>
        </p:nvSpPr>
        <p:spPr>
          <a:xfrm flipH="1">
            <a:off x="638550" y="5934825"/>
            <a:ext cx="715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3 : </a:t>
            </a: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Python Implementation of Rule-Based Bug Pattern Classification.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e196ae085_4_3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50" name="Google Shape;150;g3ae196ae085_4_3"/>
          <p:cNvSpPr txBox="1"/>
          <p:nvPr>
            <p:ph idx="1" type="body"/>
          </p:nvPr>
        </p:nvSpPr>
        <p:spPr>
          <a:xfrm>
            <a:off x="95247" y="724671"/>
            <a:ext cx="8953500" cy="59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Excerpt from 1_download_data.py – Hourly GH Archive Fetch LogicExcerpt from 1_download_da</a:t>
            </a:r>
            <a:endParaRPr/>
          </a:p>
        </p:txBody>
      </p:sp>
      <p:pic>
        <p:nvPicPr>
          <p:cNvPr id="151" name="Google Shape;151;g3ae196ae085_4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775" y="781038"/>
            <a:ext cx="7033751" cy="53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196ae085_4_3"/>
          <p:cNvSpPr txBox="1"/>
          <p:nvPr/>
        </p:nvSpPr>
        <p:spPr>
          <a:xfrm flipH="1">
            <a:off x="1122425" y="6090475"/>
            <a:ext cx="67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4 : </a:t>
            </a: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Excerpt from 1_download_data.py – Hourly GH Archive Fetch Logic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196ae085_4_11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159" name="Google Shape;159;g3ae196ae085_4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000" y="772300"/>
            <a:ext cx="5476001" cy="53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196ae085_4_19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66" name="Google Shape;166;g3ae196ae085_4_19"/>
          <p:cNvSpPr txBox="1"/>
          <p:nvPr>
            <p:ph idx="1" type="body"/>
          </p:nvPr>
        </p:nvSpPr>
        <p:spPr>
          <a:xfrm>
            <a:off x="1297450" y="5807675"/>
            <a:ext cx="6557700" cy="58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                 </a:t>
            </a:r>
            <a:r>
              <a:rPr b="1" lang="en-US" sz="1400"/>
              <a:t>Figure 5 : </a:t>
            </a:r>
            <a:r>
              <a:rPr b="1" lang="en-US" sz="1400"/>
              <a:t>Excerpt from 2._extract_datasets.py</a:t>
            </a:r>
            <a:endParaRPr b="1" sz="1400"/>
          </a:p>
          <a:p>
            <a:pPr indent="0" lvl="0" marL="0" rtl="0" algn="just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pic>
        <p:nvPicPr>
          <p:cNvPr id="167" name="Google Shape;167;g3ae196ae085_4_19"/>
          <p:cNvPicPr preferRelativeResize="0"/>
          <p:nvPr/>
        </p:nvPicPr>
        <p:blipFill rotWithShape="1">
          <a:blip r:embed="rId3">
            <a:alphaModFix/>
          </a:blip>
          <a:srcRect b="8014" l="0" r="0" t="5808"/>
          <a:stretch/>
        </p:blipFill>
        <p:spPr>
          <a:xfrm>
            <a:off x="720825" y="1127563"/>
            <a:ext cx="7134225" cy="46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e196ae085_4_27"/>
          <p:cNvSpPr txBox="1"/>
          <p:nvPr>
            <p:ph type="title"/>
          </p:nvPr>
        </p:nvSpPr>
        <p:spPr>
          <a:xfrm>
            <a:off x="86190" y="5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74" name="Google Shape;174;g3ae196ae085_4_27"/>
          <p:cNvSpPr txBox="1"/>
          <p:nvPr>
            <p:ph idx="1" type="body"/>
          </p:nvPr>
        </p:nvSpPr>
        <p:spPr>
          <a:xfrm>
            <a:off x="2331025" y="1493100"/>
            <a:ext cx="5052000" cy="220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95275" rtl="0" algn="just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g3ae196ae085_4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50" y="989200"/>
            <a:ext cx="6740750" cy="47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ae196ae085_4_27"/>
          <p:cNvSpPr txBox="1"/>
          <p:nvPr/>
        </p:nvSpPr>
        <p:spPr>
          <a:xfrm>
            <a:off x="1099150" y="6008325"/>
            <a:ext cx="674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 : </a:t>
            </a: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 API Collection to Backend Endpoint Validation:</a:t>
            </a:r>
            <a:endParaRPr b="1"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e44ff445e_2_5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83" name="Google Shape;183;g3ae44ff445e_2_5"/>
          <p:cNvSpPr txBox="1"/>
          <p:nvPr>
            <p:ph idx="1" type="body"/>
          </p:nvPr>
        </p:nvSpPr>
        <p:spPr>
          <a:xfrm>
            <a:off x="86197" y="782321"/>
            <a:ext cx="8953500" cy="59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Validation of Persistent Data Storage via MongoDB Compass</a:t>
            </a:r>
            <a:endParaRPr/>
          </a:p>
        </p:txBody>
      </p:sp>
      <p:pic>
        <p:nvPicPr>
          <p:cNvPr id="184" name="Google Shape;184;g3ae44ff445e_2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225" y="999125"/>
            <a:ext cx="7917926" cy="50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ae44ff445e_2_5"/>
          <p:cNvSpPr txBox="1"/>
          <p:nvPr/>
        </p:nvSpPr>
        <p:spPr>
          <a:xfrm>
            <a:off x="814750" y="6108575"/>
            <a:ext cx="749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7 : </a:t>
            </a: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 of Persistent Data Storage via MongoDB Compass</a:t>
            </a:r>
            <a:endParaRPr b="1"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Experimental Results and Evaluation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38893" y="8145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Functional Accuracy</a:t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95% intent classification accuracy</a:t>
            </a: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(over 300 conversational inputs)</a:t>
            </a:r>
            <a:b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90% correct GitHub API action execution</a:t>
            </a:r>
            <a:b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100% successful write operations</a:t>
            </a: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(issues, PR comments, assignments)</a:t>
            </a:r>
            <a:b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Metrics</a:t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1.2 seconds average response time</a:t>
            </a:r>
            <a:b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latency interaction validated via Postman</a:t>
            </a:r>
            <a:b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Stable connections across multiple API calls</a:t>
            </a:r>
            <a:b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Metrics</a:t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1.2 seconds average response time</a:t>
            </a:r>
            <a:b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latency interaction validated via Postman</a:t>
            </a:r>
            <a:b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Stable connections across multiple API calls</a:t>
            </a:r>
            <a:b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196ae085_2_8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Experimental Results and Evaluation</a:t>
            </a:r>
            <a:endParaRPr/>
          </a:p>
        </p:txBody>
      </p:sp>
      <p:sp>
        <p:nvSpPr>
          <p:cNvPr id="198" name="Google Shape;198;g3ae196ae085_2_8"/>
          <p:cNvSpPr txBox="1"/>
          <p:nvPr>
            <p:ph idx="1" type="body"/>
          </p:nvPr>
        </p:nvSpPr>
        <p:spPr>
          <a:xfrm>
            <a:off x="86197" y="782321"/>
            <a:ext cx="8953500" cy="59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Data Validation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All API actions logged correctly into </a:t>
            </a:r>
            <a:r>
              <a:rPr b="1" lang="en-US" sz="1300"/>
              <a:t>MongoDB</a:t>
            </a:r>
            <a:br>
              <a:rPr b="1" lang="en-US" sz="1300"/>
            </a:b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/>
              <a:t>Validation screenshots included in report (Figure 10)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 Improvements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/>
              <a:t>Clear communication channel between non-technical users and developers</a:t>
            </a:r>
            <a:br>
              <a:rPr lang="en-US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/>
              <a:t>Reduction in manual workload for issue creation &amp; PR tasks</a:t>
            </a:r>
            <a:br>
              <a:rPr lang="en-US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/>
              <a:t>Consistent formatting through AI-driven templates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Functional Accuracy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/>
              <a:t>95% intent classification accuracy</a:t>
            </a:r>
            <a:r>
              <a:rPr lang="en-US" sz="1300"/>
              <a:t> (over 300 conversational inputs)</a:t>
            </a:r>
            <a:br>
              <a:rPr lang="en-US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b="1" lang="en-US" sz="1300"/>
              <a:t>90% correct GitHub API action execution</a:t>
            </a:r>
            <a:br>
              <a:rPr b="1" lang="en-US" sz="1300"/>
            </a:b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/>
              <a:t>100% successful write operations</a:t>
            </a:r>
            <a:r>
              <a:rPr lang="en-US" sz="1300"/>
              <a:t> (issues, PR comments, assignments)</a:t>
            </a:r>
            <a:br>
              <a:rPr lang="en-US" sz="1300"/>
            </a:b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e4c832852_0_3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Experimental Results and Evaluation</a:t>
            </a:r>
            <a:endParaRPr/>
          </a:p>
        </p:txBody>
      </p:sp>
      <p:pic>
        <p:nvPicPr>
          <p:cNvPr id="205" name="Google Shape;205;g3ae4c832852_0_3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75" y="970450"/>
            <a:ext cx="7672351" cy="449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ae4c832852_0_3"/>
          <p:cNvSpPr txBox="1"/>
          <p:nvPr/>
        </p:nvSpPr>
        <p:spPr>
          <a:xfrm>
            <a:off x="2574425" y="5860300"/>
            <a:ext cx="56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8 : Result Distribution 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Key Learnings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GitHub REST and GraphQL APIs helped in learning authentication, rate limits, and handling real-time automation challenges.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on the AI agent improved knowledge of intent recognition and converting natural language instructions into actionable GitHub operations.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and database design strengthened understanding of system architecture, modular development, and smooth data flow across components.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FastAPI and MongoDB enhanced skills in API development, data processing, and backend optimization.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with Postman and functional test cases highlighted the importance of validation, error handling, and ensuring system reliability.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Generating summaries and analytics provided experience in transforming raw GitHub data into meaningful insights.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project improved research ability, problem-solving, teamwork, and converting complex requirements into a functional intelligent system.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Contribution and Attendance</a:t>
            </a:r>
            <a:endParaRPr b="0"/>
          </a:p>
        </p:txBody>
      </p:sp>
      <p:sp>
        <p:nvSpPr>
          <p:cNvPr id="218" name="Google Shape;218;p22"/>
          <p:cNvSpPr txBox="1"/>
          <p:nvPr/>
        </p:nvSpPr>
        <p:spPr>
          <a:xfrm>
            <a:off x="77118" y="804231"/>
            <a:ext cx="8956800" cy="51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19" name="Google Shape;219;p22"/>
          <p:cNvGraphicFramePr/>
          <p:nvPr/>
        </p:nvGraphicFramePr>
        <p:xfrm>
          <a:off x="110168" y="881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801275"/>
                <a:gridCol w="879050"/>
                <a:gridCol w="4265400"/>
                <a:gridCol w="1139000"/>
                <a:gridCol w="786550"/>
                <a:gridCol w="1044000"/>
              </a:tblGrid>
              <a:tr h="507400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GitHub Repository URL: https://github.com/Kritika-1017/AI-Agent-for-Github-Workflow-Automation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 anchor="ctr">
                    <a:solidFill>
                      <a:srgbClr val="D5D59B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507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Member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 Done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(provide complete details)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 Contribution (%)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Lines of Code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(if any)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 Attendance (%)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221030038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Read and reviewed 5 research papers.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Assisted in backend testing, debugging, and improving system performance.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Contributed research-based content and details to the project report .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221030056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Read and reviewed 5 research papers.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Developed and managed the backend architecture, database, and server logic.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Contributed research-based content and details to the project report 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221030089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Contributed research-based content and details to the project report 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Read and reviewed 5 research papers.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Maintained the weekly project diary and documented progress regularly.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8890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8890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221030330</a:t>
                      </a:r>
                      <a:endParaRPr i="0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Read and reviewed 5 research papers.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Maintained the weekly project diary and documented progress regularly.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Collected, organized, and prepared the dataset and supported the technical report sections.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889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25%</a:t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i="0"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Supervisor </a:t>
            </a:r>
            <a:r>
              <a:rPr lang="en-US"/>
              <a:t>Interactions </a:t>
            </a:r>
            <a:r>
              <a:rPr b="0" lang="en-US"/>
              <a:t>(as mentioned in weekly log)</a:t>
            </a:r>
            <a:endParaRPr b="0"/>
          </a:p>
        </p:txBody>
      </p:sp>
      <p:sp>
        <p:nvSpPr>
          <p:cNvPr id="225" name="Google Shape;225;p23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26" name="Google Shape;226;p23"/>
          <p:cNvGraphicFramePr/>
          <p:nvPr/>
        </p:nvGraphicFramePr>
        <p:xfrm>
          <a:off x="110168" y="881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651825"/>
                <a:gridCol w="1364250"/>
                <a:gridCol w="5596575"/>
                <a:gridCol w="1222875"/>
              </a:tblGrid>
              <a:tr h="4260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No. of Meetings with Supervisor: 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5D59B"/>
                    </a:solidFill>
                  </a:tcPr>
                </a:tc>
                <a:tc hMerge="1"/>
                <a:tc hMerge="1"/>
                <a:tc hMerge="1"/>
              </a:tr>
              <a:tr h="507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Week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Remarks (</a:t>
                      </a: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as mentioned in the weekly log</a:t>
                      </a: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Incorporated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(Yes/No)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Supervisor </a:t>
            </a:r>
            <a:r>
              <a:rPr lang="en-US"/>
              <a:t>Interactions</a:t>
            </a:r>
            <a:r>
              <a:rPr lang="en-US" sz="2400"/>
              <a:t> </a:t>
            </a:r>
            <a:r>
              <a:rPr b="0" lang="en-US" sz="2400"/>
              <a:t>(cont…)</a:t>
            </a:r>
            <a:endParaRPr b="0"/>
          </a:p>
        </p:txBody>
      </p:sp>
      <p:sp>
        <p:nvSpPr>
          <p:cNvPr id="232" name="Google Shape;232;p24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33" name="Google Shape;233;p24"/>
          <p:cNvGraphicFramePr/>
          <p:nvPr/>
        </p:nvGraphicFramePr>
        <p:xfrm>
          <a:off x="110168" y="881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{FD0CBA43-1E77-4C9B-B9C0-AEC927BD453B}</a:tableStyleId>
              </a:tblPr>
              <a:tblGrid>
                <a:gridCol w="651825"/>
                <a:gridCol w="1364250"/>
                <a:gridCol w="5596575"/>
                <a:gridCol w="1222875"/>
              </a:tblGrid>
              <a:tr h="507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Week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Remarks (</a:t>
                      </a: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as mentioned in the weekly log</a:t>
                      </a: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Incorporated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(Yes/No)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dd/mm/2025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1</a:t>
                      </a:r>
                      <a:endParaRPr/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2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design and backend architecture were completed with full integration of GitHub REST and GraphQL APIs.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commit_pr dataset was created, and all data extraction scripts for GH Archive were developed and tested.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FastAPI backend was implemented with functionalities such as issue creation, issue assignment, pull request retrieval, commit fetching, and activity summary generation.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Intent recognition and rule-based classification were added along with proper error handling and logging.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MongoDB integration was completed, and all records were validated using MongoDB Compass.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 API collection was created and used to successfully test all endpoints.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 was performed using real queries, showing high accuracy and reliable execution of operations.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remaining report chapters, figures, tables, and documentation were completed.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Plan</a:t>
            </a:r>
            <a:endParaRPr/>
          </a:p>
        </p:txBody>
      </p:sp>
      <p:pic>
        <p:nvPicPr>
          <p:cNvPr id="245" name="Google Shape;245;p21" title="Screenshot 2025-09-27 at 6.17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2319"/>
            <a:ext cx="8839204" cy="5330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463ba5af0_0_4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Plan</a:t>
            </a:r>
            <a:endParaRPr/>
          </a:p>
        </p:txBody>
      </p:sp>
      <p:sp>
        <p:nvSpPr>
          <p:cNvPr id="252" name="Google Shape;252;g38463ba5af0_0_4"/>
          <p:cNvSpPr txBox="1"/>
          <p:nvPr>
            <p:ph idx="1" type="body"/>
          </p:nvPr>
        </p:nvSpPr>
        <p:spPr>
          <a:xfrm>
            <a:off x="86197" y="782321"/>
            <a:ext cx="8953500" cy="59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3" name="Google Shape;253;g38463ba5af0_0_4"/>
          <p:cNvGraphicFramePr/>
          <p:nvPr/>
        </p:nvGraphicFramePr>
        <p:xfrm>
          <a:off x="152400" y="7823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{A337A828-F025-436C-9CAE-9FE6D046153B}</a:tableStyleId>
              </a:tblPr>
              <a:tblGrid>
                <a:gridCol w="1167775"/>
                <a:gridCol w="3371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371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53137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Activity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D9D9D9"/>
                    </a:solidFill>
                  </a:tcPr>
                </a:tc>
                <a:tc gridSpan="10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2025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10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 2026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531375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Aug.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Sept.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Oct.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Feb.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Apr.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May</a:t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b">
                    <a:solidFill>
                      <a:srgbClr val="D9D9D9"/>
                    </a:solidFill>
                  </a:tcPr>
                </a:tc>
                <a:tc hMerge="1"/>
              </a:tr>
              <a:tr h="537000">
                <a:tc>
                  <a:txBody>
                    <a:bodyPr/>
                    <a:lstStyle/>
                    <a:p>
                      <a:pPr indent="0" lvl="0" marL="9017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Review</a:t>
                      </a:r>
                      <a:endParaRPr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</a:tr>
              <a:tr h="910925">
                <a:tc>
                  <a:txBody>
                    <a:bodyPr/>
                    <a:lstStyle/>
                    <a:p>
                      <a:pPr indent="0" lvl="0" marL="9017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and Requirements</a:t>
                      </a:r>
                      <a:endParaRPr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7CB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7CB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7CB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7CB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7CB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910925">
                <a:tc>
                  <a:txBody>
                    <a:bodyPr/>
                    <a:lstStyle/>
                    <a:p>
                      <a:pPr indent="0" lvl="0" marL="9017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Design and Architecture</a:t>
                      </a:r>
                      <a:endParaRPr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</a:tr>
              <a:tr h="537000">
                <a:tc>
                  <a:txBody>
                    <a:bodyPr/>
                    <a:lstStyle/>
                    <a:p>
                      <a:pPr indent="0" lvl="0" marL="9017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Implementation</a:t>
                      </a:r>
                      <a:endParaRPr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910925">
                <a:tc>
                  <a:txBody>
                    <a:bodyPr/>
                    <a:lstStyle/>
                    <a:p>
                      <a:pPr indent="0" lvl="0" marL="9017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Testing and Validation</a:t>
                      </a:r>
                      <a:endParaRPr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910925">
                <a:tc>
                  <a:txBody>
                    <a:bodyPr/>
                    <a:lstStyle/>
                    <a:p>
                      <a:pPr indent="0" lvl="0" marL="9017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Documentation and Write-up</a:t>
                      </a:r>
                      <a:endParaRPr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254" name="Google Shape;254;g38463ba5af0_0_4"/>
          <p:cNvSpPr txBox="1"/>
          <p:nvPr/>
        </p:nvSpPr>
        <p:spPr>
          <a:xfrm>
            <a:off x="4011800" y="32429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e196ae085_0_58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References </a:t>
            </a:r>
            <a:r>
              <a:rPr b="0" lang="en-US" sz="2400"/>
              <a:t>(cont…)</a:t>
            </a:r>
            <a:endParaRPr/>
          </a:p>
        </p:txBody>
      </p:sp>
      <p:sp>
        <p:nvSpPr>
          <p:cNvPr id="260" name="Google Shape;260;g3ae196ae085_0_58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A. Pindoriya and J. Velani, "Advancements in GitHub Automation and Workflow: A Comprehensive Exploration,"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 X. Zhang, S. Muralee, S. Cherupattamooleyl, and A. Machiry, "On the Effectiveness of Large Language Models for GitHub Workflows,"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Purdue University,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 M. F. Wong, S. Guo, C. N. Ham, S. W. Ho, and C. W. Tan, "Natural Language Generation and Understanding of Big Code for AI-Assisted Programming: A Review,"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Report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[4] T. Kinsman, M. Wessel, M. A. Gerosa, and C. Treude, "How Do Software Developers Use GitHub Actions to Automate Their Workflows?," in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Proc. Mining Software Repositories (MSR)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2021.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[5] L. Zheng, S. Li, X. Huang, and J. Huang, "Why Do GitHub Actions Workflows Fail? An Empirical Study,"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ACM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2024.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[6] P. Rostami Mazrae, A. Decan, T. Mens, and M. Wessel, "An Empirical Study of the Evolution of GitHub Actions Workflows,"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SSRN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[7] A. Decan, T. Mens, and H. Onsori Delicheh, "On the Outdatedness of Workflows in the GitHub Actions Ecosystem,"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Journal of Systems and Software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2023.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[8] I. Ceka et al., "How Does LLM Reasoning Work for Code? A Survey and a Call to Action,"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[9] H. Jin et al., "Towards Advancing Code Generation with Large Language Models: A Research Roadmap,"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[10] J. Wang et al., "Enhancing Code LLMs with Reinforcement Learning in Code Generation: A Survey,"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2024.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[11] J. Jiang et al., "A Survey on Large Language Models for Code Generation,"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2024.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[12] X. Zhou et al., "An LLM-as-Judge Metric for Bridging the Gap with Human Evaluation in SE Tasks,"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[13] "AI2Agent: An End-to-End Framework for Deploying AI Projects as Autonomous Agents,"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[14] T. Masterman, S. Besen, M. Sawtell, and A. Chao, "The Landscape of Emerging AI Agent Architectures for Reasoning, Planning, and Tool Calling: A Survey,"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2024.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 </a:t>
            </a:r>
            <a:r>
              <a:rPr b="0" lang="en-US"/>
              <a:t>(cont…)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41275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[15] S. Joshi, "A Review of Generative AI and DevOps Pipelines: CI/CD, Agentic Automation, MLOps Integration, and Large Language Models,"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Preprints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[16] P. Valenzuela-Toledo, A. Bergel, T. Kehrer, and O. Nierstrasz, "The Hidden Costs of Automation: An Empirical Study on GitHub Actions Workflow Maintenance," in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Proc. 20th IEEE/ACM Int. Conf. on Mining Software Repositories (MSR)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2023.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[17] K. Liu et al., "ProjectEval: A Benchmark for Programming Agents Automated Evaluation on Project-Level Code Generation,"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[18] D. G. Paul, H. Zhu, and I. Bayley, "Benchmarks and Metrics for Evaluations of Code Generation: A Critical Review,"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2024.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[19] M. Baqar, S. Naqvi, and R. Khanda, "AI-Augmented CI/CD Pipelines: From Code Commit to Production with Autonomous Decisions,"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2024.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[20] A. Yehudai et al., "Survey on Evaluation of LLM-based Agents,"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arXiv preprint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2025.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/>
        </p:nvSpPr>
        <p:spPr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ctr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ctr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Thanks</a:t>
            </a: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pic>
        <p:nvPicPr>
          <p:cNvPr descr="🙏" id="272" name="Google Shape;2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164" y="2663328"/>
            <a:ext cx="765672" cy="765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2008-07-20T15:16:37Z</dcterms:created>
  <dc:creator>Marilyn Turnamian</dc:creator>
</cp:coreProperties>
</file>