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firstSlideNum="0" strictFirstAndLastChars="0" saveSubsetFonts="1" showSpecialPlsOnTitleSld="0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y="6858000" cx="9144000"/>
  <p:notesSz cx="9942500" cy="6761150"/>
  <p:embeddedFontLst>
    <p:embeddedFont>
      <p:font typeface="Tahoma"/>
      <p:regular r:id="rId45"/>
      <p:bold r:id="rId46"/>
    </p:embeddedFont>
    <p:embeddedFont>
      <p:font typeface="Helvetica Neue"/>
      <p:regular r:id="rId47"/>
      <p:bold r:id="rId48"/>
      <p:italic r:id="rId49"/>
      <p:boldItalic r:id="rId5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816">
          <p15:clr>
            <a:srgbClr val="A4A3A4"/>
          </p15:clr>
        </p15:guide>
        <p15:guide id="2" pos="521">
          <p15:clr>
            <a:srgbClr val="A4A3A4"/>
          </p15:clr>
        </p15:guide>
      </p15:sldGuideLst>
    </p:ext>
    <p:ext uri="{2D200454-40CA-4A62-9FC3-DE9A4176ACB9}">
      <p15:notesGuideLst>
        <p15:guide id="1" orient="horz" pos="2130">
          <p15:clr>
            <a:srgbClr val="A4A3A4"/>
          </p15:clr>
        </p15:guide>
        <p15:guide id="2" pos="3133">
          <p15:clr>
            <a:srgbClr val="A4A3A4"/>
          </p15:clr>
        </p15:guide>
      </p15:notesGuideLst>
    </p:ext>
    <p:ext uri="GoogleSlidesCustomDataVersion2">
      <go:slidesCustomData xmlns:go="http://customooxmlschemas.google.com/" r:id="rId51" roundtripDataSignature="AMtx7miEubsD5K+K5lbaotBQPoKAfyaz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00D4A2D-97CE-4F2B-B49E-429FE4956FFF}">
  <a:tblStyle styleId="{000D4A2D-97CE-4F2B-B49E-429FE4956FFF}" styleName="Table_0">
    <a:wholeTbl>
      <a:tcTxStyle b="off" i="off">
        <a:font>
          <a:latin typeface="Helvetica"/>
          <a:ea typeface="Helvetica"/>
          <a:cs typeface="Helvetica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6E6"/>
          </a:solidFill>
        </a:fill>
      </a:tcStyle>
    </a:wholeTbl>
    <a:band1H>
      <a:tcTxStyle b="off" i="off"/>
      <a:tcStyle>
        <a:fill>
          <a:solidFill>
            <a:srgbClr val="CACAC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CACA"/>
          </a:solidFill>
        </a:fill>
      </a:tcStyle>
    </a:band1V>
    <a:band2V>
      <a:tcTxStyle b="off" i="off"/>
    </a:band2V>
    <a:lastCol>
      <a:tcTxStyle b="on" i="off">
        <a:font>
          <a:latin typeface="Helvetica"/>
          <a:ea typeface="Helvetica"/>
          <a:cs typeface="Helvetica"/>
        </a:font>
        <a:schemeClr val="lt1"/>
      </a:tcTxStyle>
      <a:tcStyle>
        <a:fill>
          <a:solidFill>
            <a:schemeClr val="accent4"/>
          </a:solidFill>
        </a:fill>
      </a:tcStyle>
    </a:lastCol>
    <a:firstCol>
      <a:tcTxStyle b="on" i="off">
        <a:font>
          <a:latin typeface="Helvetica"/>
          <a:ea typeface="Helvetica"/>
          <a:cs typeface="Helvetica"/>
        </a:font>
        <a:schemeClr val="lt1"/>
      </a:tcTxStyle>
      <a:tcStyle>
        <a:fill>
          <a:solidFill>
            <a:schemeClr val="accent4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4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Helvetica"/>
          <a:ea typeface="Helvetica"/>
          <a:cs typeface="Helvetica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4"/>
          </a:solidFill>
        </a:fill>
      </a:tcStyle>
    </a:firstRow>
    <a:neCell>
      <a:tcTxStyle b="off" i="off"/>
    </a:neCell>
    <a:nwCell>
      <a:tcTxStyle b="off" i="off"/>
    </a:nwCell>
  </a:tblStyle>
  <a:tblStyle styleId="{56348EC9-580B-456C-A9C5-6F4C7591FC5E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36B06DA8-E707-488B-BB37-6E6BD6E540F5}" styleName="Table_2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EB4DBC44-3D10-42AA-8A79-17C6790D9962}" styleName="Table_3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816" orient="horz"/>
        <p:guide pos="521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2130" orient="horz"/>
        <p:guide pos="3133"/>
      </p:guideLst>
    </p:cSldViewPr>
  </p:notes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font" Target="fonts/Tahoma-bold.fntdata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font" Target="fonts/HelveticaNeue-bold.fntdata"/><Relationship Id="rId47" Type="http://schemas.openxmlformats.org/officeDocument/2006/relationships/font" Target="fonts/HelveticaNeue-regular.fntdata"/><Relationship Id="rId49" Type="http://schemas.openxmlformats.org/officeDocument/2006/relationships/font" Target="fonts/HelveticaNeue-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customschemas.google.com/relationships/presentationmetadata" Target="metadata"/><Relationship Id="rId50" Type="http://schemas.openxmlformats.org/officeDocument/2006/relationships/font" Target="fonts/HelveticaNeue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4332288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5635625" y="0"/>
            <a:ext cx="4333875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000" u="none" cap="none" strike="noStrike">
                <a:solidFill>
                  <a:srgbClr val="E36C0A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6438900"/>
            <a:ext cx="4332288" cy="3333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5635625" y="6438900"/>
            <a:ext cx="4333875" cy="3333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1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37" name="Google Shape;37;p2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" name="Google Shape;38;p2:notes"/>
          <p:cNvSpPr txBox="1"/>
          <p:nvPr>
            <p:ph idx="12" type="sldNum"/>
          </p:nvPr>
        </p:nvSpPr>
        <p:spPr>
          <a:xfrm>
            <a:off x="5635625" y="6438900"/>
            <a:ext cx="4333875" cy="3333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" name="Google Shape;45;p3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" name="Google Shape;51;p4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7" name="Google Shape;57;p5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3" name="Google Shape;63;p6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0" name="Google Shape;70;p7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7" name="Google Shape;77;p8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9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4" name="Google Shape;84;p9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0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1" name="Google Shape;91;p10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1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8" name="Google Shape;98;p11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2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4" name="Google Shape;104;p12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3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0" name="Google Shape;110;p13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4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7" name="Google Shape;117;p14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e7db60ffec_1_1:notes"/>
          <p:cNvSpPr/>
          <p:nvPr>
            <p:ph idx="2" type="sldImg"/>
          </p:nvPr>
        </p:nvSpPr>
        <p:spPr>
          <a:xfrm>
            <a:off x="3230563" y="500063"/>
            <a:ext cx="3400500" cy="2551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23" name="Google Shape;123;g3e7db60ffec_1_1:notes"/>
          <p:cNvSpPr txBox="1"/>
          <p:nvPr>
            <p:ph idx="1" type="body"/>
          </p:nvPr>
        </p:nvSpPr>
        <p:spPr>
          <a:xfrm>
            <a:off x="1300163" y="3221038"/>
            <a:ext cx="7369200" cy="305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4" name="Google Shape;124;g3e7db60ffec_1_1:notes"/>
          <p:cNvSpPr txBox="1"/>
          <p:nvPr>
            <p:ph idx="12" type="sldNum"/>
          </p:nvPr>
        </p:nvSpPr>
        <p:spPr>
          <a:xfrm>
            <a:off x="5635625" y="6438900"/>
            <a:ext cx="43338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7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0" name="Google Shape;130;p17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6" name="Google Shape;136;p18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c55c434bff_0_22:notes"/>
          <p:cNvSpPr/>
          <p:nvPr>
            <p:ph idx="2" type="sldImg"/>
          </p:nvPr>
        </p:nvSpPr>
        <p:spPr>
          <a:xfrm>
            <a:off x="3230563" y="500063"/>
            <a:ext cx="3400500" cy="2551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42" name="Google Shape;142;g3c55c434bff_0_22:notes"/>
          <p:cNvSpPr txBox="1"/>
          <p:nvPr>
            <p:ph idx="1" type="body"/>
          </p:nvPr>
        </p:nvSpPr>
        <p:spPr>
          <a:xfrm>
            <a:off x="1300163" y="3221038"/>
            <a:ext cx="7369200" cy="305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3" name="Google Shape;143;g3c55c434bff_0_22:notes"/>
          <p:cNvSpPr txBox="1"/>
          <p:nvPr>
            <p:ph idx="12" type="sldNum"/>
          </p:nvPr>
        </p:nvSpPr>
        <p:spPr>
          <a:xfrm>
            <a:off x="5635625" y="6438900"/>
            <a:ext cx="43338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c55c434bff_0_16:notes"/>
          <p:cNvSpPr/>
          <p:nvPr>
            <p:ph idx="2" type="sldImg"/>
          </p:nvPr>
        </p:nvSpPr>
        <p:spPr>
          <a:xfrm>
            <a:off x="3230563" y="500063"/>
            <a:ext cx="3400500" cy="2551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51" name="Google Shape;151;g3c55c434bff_0_16:notes"/>
          <p:cNvSpPr txBox="1"/>
          <p:nvPr>
            <p:ph idx="1" type="body"/>
          </p:nvPr>
        </p:nvSpPr>
        <p:spPr>
          <a:xfrm>
            <a:off x="1300163" y="3221038"/>
            <a:ext cx="7369200" cy="305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2" name="Google Shape;152;g3c55c434bff_0_16:notes"/>
          <p:cNvSpPr txBox="1"/>
          <p:nvPr>
            <p:ph idx="12" type="sldNum"/>
          </p:nvPr>
        </p:nvSpPr>
        <p:spPr>
          <a:xfrm>
            <a:off x="5635625" y="6438900"/>
            <a:ext cx="43338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e7db60ffec_1_12:notes"/>
          <p:cNvSpPr/>
          <p:nvPr>
            <p:ph idx="2" type="sldImg"/>
          </p:nvPr>
        </p:nvSpPr>
        <p:spPr>
          <a:xfrm>
            <a:off x="3230563" y="500063"/>
            <a:ext cx="3400500" cy="2551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60" name="Google Shape;160;g3e7db60ffec_1_12:notes"/>
          <p:cNvSpPr txBox="1"/>
          <p:nvPr>
            <p:ph idx="1" type="body"/>
          </p:nvPr>
        </p:nvSpPr>
        <p:spPr>
          <a:xfrm>
            <a:off x="1300163" y="3221038"/>
            <a:ext cx="7369200" cy="305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1" name="Google Shape;161;g3e7db60ffec_1_12:notes"/>
          <p:cNvSpPr txBox="1"/>
          <p:nvPr>
            <p:ph idx="12" type="sldNum"/>
          </p:nvPr>
        </p:nvSpPr>
        <p:spPr>
          <a:xfrm>
            <a:off x="5635625" y="6438900"/>
            <a:ext cx="43338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9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8" name="Google Shape;168;p19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0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4" name="Google Shape;174;p20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1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0" name="Google Shape;180;p21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2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6" name="Google Shape;186;p22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3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2" name="Google Shape;192;p23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4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8" name="Google Shape;198;p24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5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5" name="Google Shape;205;p25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7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2" name="Google Shape;212;p27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8" name="Google Shape;218;p28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9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4" name="Google Shape;224;p29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c55733fc47_0_6:notes"/>
          <p:cNvSpPr/>
          <p:nvPr>
            <p:ph idx="2" type="sldImg"/>
          </p:nvPr>
        </p:nvSpPr>
        <p:spPr>
          <a:xfrm>
            <a:off x="3230563" y="500063"/>
            <a:ext cx="3400500" cy="2551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1" name="Google Shape;231;g3c55733fc47_0_6:notes"/>
          <p:cNvSpPr txBox="1"/>
          <p:nvPr>
            <p:ph idx="1" type="body"/>
          </p:nvPr>
        </p:nvSpPr>
        <p:spPr>
          <a:xfrm>
            <a:off x="1300163" y="3221038"/>
            <a:ext cx="7369200" cy="305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2" name="Google Shape;232;g3c55733fc47_0_6:notes"/>
          <p:cNvSpPr txBox="1"/>
          <p:nvPr>
            <p:ph idx="12" type="sldNum"/>
          </p:nvPr>
        </p:nvSpPr>
        <p:spPr>
          <a:xfrm>
            <a:off x="5635625" y="6438900"/>
            <a:ext cx="43338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0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9" name="Google Shape;239;p30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1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5" name="Google Shape;245;p31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2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2" name="Google Shape;252;p32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3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9" name="Google Shape;259;p33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4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9" name="Google Shape;269;p34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35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5" name="Google Shape;275;p35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7:notes"/>
          <p:cNvSpPr txBox="1"/>
          <p:nvPr>
            <p:ph idx="1" type="body"/>
          </p:nvPr>
        </p:nvSpPr>
        <p:spPr>
          <a:xfrm>
            <a:off x="1300163" y="3221038"/>
            <a:ext cx="7369175" cy="3051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1" name="Google Shape;281;p37:notes"/>
          <p:cNvSpPr/>
          <p:nvPr>
            <p:ph idx="2" type="sldImg"/>
          </p:nvPr>
        </p:nvSpPr>
        <p:spPr>
          <a:xfrm>
            <a:off x="3230563" y="500063"/>
            <a:ext cx="3400425" cy="255111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9"/>
          <p:cNvSpPr txBox="1"/>
          <p:nvPr>
            <p:ph type="ctrTitle"/>
          </p:nvPr>
        </p:nvSpPr>
        <p:spPr>
          <a:xfrm>
            <a:off x="755373" y="685800"/>
            <a:ext cx="7901609" cy="1615966"/>
          </a:xfrm>
          <a:prstGeom prst="rect">
            <a:avLst/>
          </a:prstGeom>
          <a:solidFill>
            <a:srgbClr val="D2691E"/>
          </a:solidFill>
          <a:ln cap="flat" cmpd="sng" w="9525">
            <a:solidFill>
              <a:srgbClr val="D269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0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0"/>
          <p:cNvSpPr txBox="1"/>
          <p:nvPr>
            <p:ph idx="1" type="body"/>
          </p:nvPr>
        </p:nvSpPr>
        <p:spPr>
          <a:xfrm>
            <a:off x="86197" y="782321"/>
            <a:ext cx="8953500" cy="5976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71475" lvl="0" marL="457200" algn="just">
              <a:lnSpc>
                <a:spcPct val="150000"/>
              </a:lnSpc>
              <a:spcBef>
                <a:spcPts val="630"/>
              </a:spcBef>
              <a:spcAft>
                <a:spcPts val="0"/>
              </a:spcAft>
              <a:buSzPts val="2250"/>
              <a:buChar char="•"/>
              <a:defRPr sz="1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-330200" lvl="1" marL="914400" algn="just">
              <a:lnSpc>
                <a:spcPct val="150000"/>
              </a:lnSpc>
              <a:spcBef>
                <a:spcPts val="560"/>
              </a:spcBef>
              <a:spcAft>
                <a:spcPts val="0"/>
              </a:spcAft>
              <a:buSzPts val="1600"/>
              <a:buChar char="o"/>
              <a:defRPr sz="16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-304800" lvl="2" marL="1371600" algn="just">
              <a:lnSpc>
                <a:spcPct val="150000"/>
              </a:lnSpc>
              <a:spcBef>
                <a:spcPts val="560"/>
              </a:spcBef>
              <a:spcAft>
                <a:spcPts val="0"/>
              </a:spcAft>
              <a:buSzPts val="1200"/>
              <a:buChar char="4"/>
              <a:defRPr sz="16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-304800" lvl="3" marL="1828800" algn="just">
              <a:lnSpc>
                <a:spcPct val="150000"/>
              </a:lnSpc>
              <a:spcBef>
                <a:spcPts val="560"/>
              </a:spcBef>
              <a:spcAft>
                <a:spcPts val="0"/>
              </a:spcAft>
              <a:buSzPts val="1200"/>
              <a:buFont typeface="Helvetica Neue"/>
              <a:buChar char="–"/>
              <a:defRPr sz="16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-304800" lvl="4" marL="2286000" algn="just">
              <a:lnSpc>
                <a:spcPct val="150000"/>
              </a:lnSpc>
              <a:spcBef>
                <a:spcPts val="560"/>
              </a:spcBef>
              <a:spcAft>
                <a:spcPts val="0"/>
              </a:spcAft>
              <a:buSzPts val="1200"/>
              <a:buFont typeface="Helvetica Neue"/>
              <a:buChar char="»"/>
              <a:defRPr sz="1600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-314325" lvl="5" marL="2743200" algn="l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SzPts val="1350"/>
              <a:buChar char="»"/>
              <a:defRPr/>
            </a:lvl6pPr>
            <a:lvl7pPr indent="-314325" lvl="6" marL="3200400" algn="l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SzPts val="1350"/>
              <a:buChar char="»"/>
              <a:defRPr/>
            </a:lvl7pPr>
            <a:lvl8pPr indent="-314325" lvl="7" marL="3657600" algn="l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SzPts val="1350"/>
              <a:buChar char="»"/>
              <a:defRPr/>
            </a:lvl8pPr>
            <a:lvl9pPr indent="-314325" lvl="8" marL="4114800" algn="l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SzPts val="1350"/>
              <a:buChar char="»"/>
              <a:defRPr/>
            </a:lvl9pPr>
          </a:lstStyle>
          <a:p/>
        </p:txBody>
      </p:sp>
      <p:cxnSp>
        <p:nvCxnSpPr>
          <p:cNvPr id="22" name="Google Shape;22;p40"/>
          <p:cNvCxnSpPr/>
          <p:nvPr/>
        </p:nvCxnSpPr>
        <p:spPr>
          <a:xfrm>
            <a:off x="579120" y="6658235"/>
            <a:ext cx="7934960" cy="0"/>
          </a:xfrm>
          <a:prstGeom prst="straightConnector1">
            <a:avLst/>
          </a:prstGeom>
          <a:solidFill>
            <a:schemeClr val="accent1"/>
          </a:solidFill>
          <a:ln cap="flat" cmpd="sng" w="9525">
            <a:solidFill>
              <a:srgbClr val="005493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8"/>
          <p:cNvSpPr txBox="1"/>
          <p:nvPr>
            <p:ph type="title"/>
          </p:nvPr>
        </p:nvSpPr>
        <p:spPr>
          <a:xfrm>
            <a:off x="30480" y="27846"/>
            <a:ext cx="8328751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200" u="none" cap="none" strike="noStrike">
                <a:solidFill>
                  <a:srgbClr val="006699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200" u="none" cap="none" strike="noStrike">
                <a:solidFill>
                  <a:srgbClr val="006699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200" u="none" cap="none" strike="noStrike">
                <a:solidFill>
                  <a:srgbClr val="006699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200" u="none" cap="none" strike="noStrike">
                <a:solidFill>
                  <a:srgbClr val="00669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38"/>
          <p:cNvSpPr txBox="1"/>
          <p:nvPr>
            <p:ph idx="1" type="body"/>
          </p:nvPr>
        </p:nvSpPr>
        <p:spPr>
          <a:xfrm>
            <a:off x="86197" y="782321"/>
            <a:ext cx="8953500" cy="58315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71475" lvl="0" marL="457200" marR="0" rtl="0" algn="just">
              <a:lnSpc>
                <a:spcPct val="150000"/>
              </a:lnSpc>
              <a:spcBef>
                <a:spcPts val="630"/>
              </a:spcBef>
              <a:spcAft>
                <a:spcPts val="0"/>
              </a:spcAft>
              <a:buClr>
                <a:schemeClr val="dk1"/>
              </a:buClr>
              <a:buSzPts val="225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-330200" lvl="1" marL="914400" marR="0" rtl="0" algn="just">
              <a:lnSpc>
                <a:spcPct val="15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ourier New"/>
              <a:buChar char="o"/>
              <a:defRPr b="0" i="0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-304800" lvl="2" marL="1371600" marR="0" rtl="0" algn="just">
              <a:lnSpc>
                <a:spcPct val="150000"/>
              </a:lnSpc>
              <a:spcBef>
                <a:spcPts val="560"/>
              </a:spcBef>
              <a:spcAft>
                <a:spcPts val="0"/>
              </a:spcAft>
              <a:buClr>
                <a:srgbClr val="009900"/>
              </a:buClr>
              <a:buSzPts val="1200"/>
              <a:buFont typeface="Arimo"/>
              <a:buChar char="4"/>
              <a:defRPr b="0" i="0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-304800" lvl="3" marL="1828800" marR="0" rtl="0" algn="just">
              <a:lnSpc>
                <a:spcPct val="150000"/>
              </a:lnSpc>
              <a:spcBef>
                <a:spcPts val="56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Helvetica Neue"/>
              <a:buChar char="–"/>
              <a:defRPr b="0" i="0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-304800" lvl="4" marL="2286000" marR="0" rtl="0" algn="just">
              <a:lnSpc>
                <a:spcPct val="150000"/>
              </a:lnSpc>
              <a:spcBef>
                <a:spcPts val="560"/>
              </a:spcBef>
              <a:spcAft>
                <a:spcPts val="0"/>
              </a:spcAft>
              <a:buClr>
                <a:srgbClr val="FF0066"/>
              </a:buClr>
              <a:buSzPts val="1200"/>
              <a:buFont typeface="Helvetica Neue"/>
              <a:buChar char="»"/>
              <a:defRPr b="0" i="0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-314325" lvl="5" marL="2743200" marR="0" rtl="0" algn="l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>
                <a:srgbClr val="FF0066"/>
              </a:buClr>
              <a:buSzPts val="1350"/>
              <a:buFont typeface="Helvetica Neue"/>
              <a:buChar char="»"/>
              <a:defRPr b="0" i="0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-314325" lvl="6" marL="3200400" marR="0" rtl="0" algn="l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>
                <a:srgbClr val="FF0066"/>
              </a:buClr>
              <a:buSzPts val="1350"/>
              <a:buFont typeface="Helvetica Neue"/>
              <a:buChar char="»"/>
              <a:defRPr b="0" i="0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-314325" lvl="7" marL="3657600" marR="0" rtl="0" algn="l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>
                <a:srgbClr val="FF0066"/>
              </a:buClr>
              <a:buSzPts val="1350"/>
              <a:buFont typeface="Helvetica Neue"/>
              <a:buChar char="»"/>
              <a:defRPr b="0" i="0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-314325" lvl="8" marL="4114800" marR="0" rtl="0" algn="l">
              <a:lnSpc>
                <a:spcPct val="100000"/>
              </a:lnSpc>
              <a:spcBef>
                <a:spcPts val="630"/>
              </a:spcBef>
              <a:spcAft>
                <a:spcPts val="0"/>
              </a:spcAft>
              <a:buClr>
                <a:srgbClr val="FF0066"/>
              </a:buClr>
              <a:buSzPts val="1350"/>
              <a:buFont typeface="Helvetica Neue"/>
              <a:buChar char="»"/>
              <a:defRPr b="0" i="0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/>
        </p:txBody>
      </p:sp>
      <p:sp>
        <p:nvSpPr>
          <p:cNvPr id="12" name="Google Shape;12;p38"/>
          <p:cNvSpPr txBox="1"/>
          <p:nvPr/>
        </p:nvSpPr>
        <p:spPr>
          <a:xfrm>
            <a:off x="4259263" y="6126163"/>
            <a:ext cx="1928812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IN" sz="100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Tuesday, March 3, 2026</a:t>
            </a:r>
            <a:endParaRPr b="1" i="0" sz="1000" u="none" cap="none" strike="noStrik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descr="JUIT Office Photos | Glassdoor" id="13" name="Google Shape;13;p3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8349072" y="42901"/>
            <a:ext cx="815248" cy="67900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8"/>
          <p:cNvSpPr txBox="1"/>
          <p:nvPr/>
        </p:nvSpPr>
        <p:spPr>
          <a:xfrm>
            <a:off x="123673" y="6687228"/>
            <a:ext cx="8694256" cy="19539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IN" sz="950" u="none" cap="none" strike="noStrike">
                <a:solidFill>
                  <a:srgbClr val="002060"/>
                </a:solidFill>
                <a:latin typeface="Palatino"/>
                <a:ea typeface="Palatino"/>
                <a:cs typeface="Palatino"/>
                <a:sym typeface="Palatino"/>
              </a:rPr>
              <a:t>       </a:t>
            </a:r>
            <a:r>
              <a:rPr b="0" i="0" lang="en-IN" sz="900" u="none" cap="none" strike="noStrike">
                <a:solidFill>
                  <a:srgbClr val="002060"/>
                </a:solidFill>
                <a:latin typeface="Palatino"/>
                <a:ea typeface="Palatino"/>
                <a:cs typeface="Palatino"/>
                <a:sym typeface="Palatino"/>
              </a:rPr>
              <a:t>Major Project – II (18B19CI781) Mid-Term Evaluation (MTE) | Department of CSE &amp; IT | AY 2025-26.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38"/>
          <p:cNvSpPr txBox="1"/>
          <p:nvPr/>
        </p:nvSpPr>
        <p:spPr>
          <a:xfrm>
            <a:off x="8798560" y="6613912"/>
            <a:ext cx="259243" cy="2460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t/>
            </a:r>
            <a:endParaRPr b="0" i="0" sz="950" u="none" cap="none" strike="noStrike">
              <a:solidFill>
                <a:srgbClr val="002060"/>
              </a:solidFill>
              <a:latin typeface="Palatino"/>
              <a:ea typeface="Palatino"/>
              <a:cs typeface="Palatino"/>
              <a:sym typeface="Palatino"/>
            </a:endParaRPr>
          </a:p>
        </p:txBody>
      </p:sp>
      <p:sp>
        <p:nvSpPr>
          <p:cNvPr id="16" name="Google Shape;16;p38"/>
          <p:cNvSpPr txBox="1"/>
          <p:nvPr/>
        </p:nvSpPr>
        <p:spPr>
          <a:xfrm>
            <a:off x="8798560" y="6644391"/>
            <a:ext cx="365760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0" i="0" lang="en-IN" sz="900" u="none" cap="none" strike="noStrike">
                <a:solidFill>
                  <a:srgbClr val="005493"/>
                </a:solidFill>
                <a:latin typeface="Palatino"/>
                <a:ea typeface="Palatino"/>
                <a:cs typeface="Palatino"/>
                <a:sym typeface="Palatino"/>
              </a:rPr>
              <a:t>‹#›</a:t>
            </a:fld>
            <a:r>
              <a:rPr b="0" i="0" lang="en-IN" sz="900" u="none" cap="none" strike="noStrike">
                <a:solidFill>
                  <a:srgbClr val="005493"/>
                </a:solidFill>
                <a:latin typeface="Palatino"/>
                <a:ea typeface="Palatino"/>
                <a:cs typeface="Palatino"/>
                <a:sym typeface="Palatino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2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docs.github.com/en/rest" TargetMode="External"/><Relationship Id="rId4" Type="http://schemas.openxmlformats.org/officeDocument/2006/relationships/hyperlink" Target="https://docs.github.com/en/rest" TargetMode="External"/><Relationship Id="rId5" Type="http://schemas.openxmlformats.org/officeDocument/2006/relationships/hyperlink" Target="https://www.gharchive.org" TargetMode="External"/><Relationship Id="rId6" Type="http://schemas.openxmlformats.org/officeDocument/2006/relationships/hyperlink" Target="https://www.gharchive.org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"/>
          <p:cNvSpPr txBox="1"/>
          <p:nvPr>
            <p:ph type="ctrTitle"/>
          </p:nvPr>
        </p:nvSpPr>
        <p:spPr>
          <a:xfrm>
            <a:off x="0" y="3409298"/>
            <a:ext cx="9144000" cy="759900"/>
          </a:xfrm>
          <a:prstGeom prst="rect">
            <a:avLst/>
          </a:prstGeom>
          <a:solidFill>
            <a:srgbClr val="0037A4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IN" sz="2800">
                <a:latin typeface="Times New Roman"/>
                <a:ea typeface="Times New Roman"/>
                <a:cs typeface="Times New Roman"/>
                <a:sym typeface="Times New Roman"/>
              </a:rPr>
              <a:t>AI Agent for GitHub Workflow Automation </a:t>
            </a:r>
            <a:endParaRPr b="1" i="1" sz="1400"/>
          </a:p>
        </p:txBody>
      </p:sp>
      <p:sp>
        <p:nvSpPr>
          <p:cNvPr id="28" name="Google Shape;28;p1"/>
          <p:cNvSpPr/>
          <p:nvPr/>
        </p:nvSpPr>
        <p:spPr>
          <a:xfrm>
            <a:off x="1397314" y="2108091"/>
            <a:ext cx="6349367" cy="10695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IN" sz="2400" u="none" cap="none" strike="noStrike">
                <a:solidFill>
                  <a:schemeClr val="dk1"/>
                </a:solidFill>
                <a:latin typeface="Palatino"/>
                <a:ea typeface="Palatino"/>
                <a:cs typeface="Palatino"/>
                <a:sym typeface="Palatino"/>
              </a:rPr>
              <a:t>Major Project - II (18B19CI891) | AY 2025-26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IN" sz="2000" u="none" cap="none" strike="noStrike">
                <a:solidFill>
                  <a:schemeClr val="dk1"/>
                </a:solidFill>
                <a:latin typeface="Palatino"/>
                <a:ea typeface="Palatino"/>
                <a:cs typeface="Palatino"/>
                <a:sym typeface="Palatino"/>
              </a:rPr>
              <a:t>Mid-Term Evaluation | March 2026.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 txBox="1"/>
          <p:nvPr/>
        </p:nvSpPr>
        <p:spPr>
          <a:xfrm>
            <a:off x="517798" y="4498606"/>
            <a:ext cx="3620700" cy="22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Group No.: 61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Team Member (s)</a:t>
            </a:r>
            <a:endParaRPr b="1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23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Helvetica Neue"/>
              <a:buChar char="•"/>
            </a:pPr>
            <a:r>
              <a:rPr b="0" i="0" lang="en-IN" sz="15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Gaurav Thakur (221030056)</a:t>
            </a:r>
            <a:endParaRPr b="0" i="0" sz="14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23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Helvetica Neue"/>
              <a:buChar char="•"/>
            </a:pPr>
            <a:r>
              <a:rPr b="0" i="0" lang="en-IN" sz="15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Khwaja Abdul Razzaq (221030089)</a:t>
            </a:r>
            <a:endParaRPr b="0" i="0" sz="14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23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Helvetica Neue"/>
              <a:buChar char="•"/>
            </a:pPr>
            <a:r>
              <a:rPr b="0" i="0" lang="en-IN" sz="15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Muskan Sharma (221030330)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0" name="Google Shape;30;p1"/>
          <p:cNvSpPr txBox="1"/>
          <p:nvPr/>
        </p:nvSpPr>
        <p:spPr>
          <a:xfrm>
            <a:off x="4822563" y="5087354"/>
            <a:ext cx="4118400" cy="11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Supervisor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IN" sz="15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Prof. Dr. Vivek Kumar Sehgal</a:t>
            </a:r>
            <a:r>
              <a:rPr b="0" i="0" lang="en-IN" sz="15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endParaRPr b="0" i="0" sz="15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IN" sz="15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Professor and Head of Dept., Dept. of CSE &amp; IT</a:t>
            </a:r>
            <a:endParaRPr b="0" i="0" sz="15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31" name="Google Shape;31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2492" y="-165253"/>
            <a:ext cx="1178805" cy="895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54901" y="160424"/>
            <a:ext cx="1015707" cy="3454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JUIT Office Photos | Glassdoor" id="33" name="Google Shape;33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7" y="93342"/>
            <a:ext cx="815248" cy="679009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"/>
          <p:cNvSpPr txBox="1"/>
          <p:nvPr/>
        </p:nvSpPr>
        <p:spPr>
          <a:xfrm>
            <a:off x="-2" y="601361"/>
            <a:ext cx="9144000" cy="141128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2142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IN" sz="2800" u="none" cap="none" strike="noStrike">
                <a:solidFill>
                  <a:srgbClr val="000099"/>
                </a:solidFill>
                <a:latin typeface="Palatino"/>
                <a:ea typeface="Palatino"/>
                <a:cs typeface="Palatino"/>
                <a:sym typeface="Palatino"/>
              </a:rPr>
              <a:t>Jaypee University of Information Technology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30769"/>
              </a:lnSpc>
              <a:spcBef>
                <a:spcPts val="0"/>
              </a:spcBef>
              <a:spcAft>
                <a:spcPts val="0"/>
              </a:spcAft>
              <a:buClr>
                <a:srgbClr val="000099"/>
              </a:buClr>
              <a:buSzPts val="2600"/>
              <a:buFont typeface="Palatino"/>
              <a:buNone/>
            </a:pPr>
            <a:r>
              <a:rPr b="1" i="0" lang="en-IN" sz="2600" u="none" cap="none" strike="noStrike">
                <a:solidFill>
                  <a:srgbClr val="000099"/>
                </a:solidFill>
                <a:latin typeface="Palatino"/>
                <a:ea typeface="Palatino"/>
                <a:cs typeface="Palatino"/>
                <a:sym typeface="Palatino"/>
              </a:rPr>
              <a:t>Department of Computer Science and Engineering and Information Technology</a:t>
            </a:r>
            <a:endParaRPr b="1" i="0" sz="2600" u="none" cap="none" strike="noStrike">
              <a:solidFill>
                <a:srgbClr val="002060"/>
              </a:solidFill>
              <a:latin typeface="Palatino"/>
              <a:ea typeface="Palatino"/>
              <a:cs typeface="Palatino"/>
              <a:sym typeface="Palatin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/>
              <a:t>Outline</a:t>
            </a:r>
            <a:endParaRPr/>
          </a:p>
        </p:txBody>
      </p:sp>
      <p:sp>
        <p:nvSpPr>
          <p:cNvPr id="41" name="Google Shape;41;p2"/>
          <p:cNvSpPr txBox="1"/>
          <p:nvPr/>
        </p:nvSpPr>
        <p:spPr>
          <a:xfrm>
            <a:off x="77118" y="804231"/>
            <a:ext cx="4153359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61938" lvl="0" marL="357188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Introduction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Problem Statement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Objectives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Literature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Work Done (after MP-I)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Dataset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Project Design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Tools, Technologies and Languages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Implementation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Experimental Results and Evaluation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Publications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Future Work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Project Plan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4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134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2" name="Google Shape;42;p2"/>
          <p:cNvSpPr txBox="1"/>
          <p:nvPr/>
        </p:nvSpPr>
        <p:spPr>
          <a:xfrm>
            <a:off x="5233012" y="804231"/>
            <a:ext cx="3833872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61938" lvl="0" marL="357188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Key Learnings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Work Contribution and Attendance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Supervisor Interactions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1938" lvl="0" marL="357188" marR="0" rtl="0" algn="just">
              <a:lnSpc>
                <a:spcPct val="14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References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/>
              <a:t>Introduction</a:t>
            </a:r>
            <a:endParaRPr/>
          </a:p>
        </p:txBody>
      </p:sp>
      <p:sp>
        <p:nvSpPr>
          <p:cNvPr id="48" name="Google Shape;48;p3"/>
          <p:cNvSpPr txBox="1"/>
          <p:nvPr/>
        </p:nvSpPr>
        <p:spPr>
          <a:xfrm>
            <a:off x="-85588" y="887431"/>
            <a:ext cx="8956800" cy="5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GitHub is a widely used platform for </a:t>
            </a: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collaborative software development and version control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•"/>
            </a:pP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Developers manage repositories, issues, pull requests, and workflows to maintain software projects.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However, manually tracking repository activities and managing issues can be </a:t>
            </a: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time-consuming and inefficient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project introduces an </a:t>
            </a: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AI-powered GitHub Agent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that helps automate repository operations using </a:t>
            </a: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natural language commands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system integrates </a:t>
            </a: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GitHub APIs, backend services, and a chat-based interface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to assist developers in managing repositories efficiently.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This approach improves </a:t>
            </a: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productivity, automation, and repository insights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for developers.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/>
              <a:t>Problem Statement</a:t>
            </a:r>
            <a:endParaRPr/>
          </a:p>
        </p:txBody>
      </p:sp>
      <p:sp>
        <p:nvSpPr>
          <p:cNvPr id="54" name="Google Shape;54;p4"/>
          <p:cNvSpPr txBox="1"/>
          <p:nvPr/>
        </p:nvSpPr>
        <p:spPr>
          <a:xfrm>
            <a:off x="-7" y="838557"/>
            <a:ext cx="8956800" cy="57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Managing GitHub repositories, issues, and pull requests manually can be </a:t>
            </a: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time-consuming for developers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b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Developers often need to </a:t>
            </a: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switch between multiple GitHub pages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to track repository information, bugs, and workflows.</a:t>
            </a:r>
            <a:b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There is </a:t>
            </a: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no simple natural language interface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that allows users to interact with GitHub operations easily.</a:t>
            </a:r>
            <a:b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Analyzing bug trends, repository activity, and workflow data requires </a:t>
            </a: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manual monitoring and effort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b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Therefore, there is a need for an </a:t>
            </a: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intelligent automated system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that can simplify GitHub management and provide quick insights.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/>
              <a:t>Objectives</a:t>
            </a:r>
            <a:endParaRPr/>
          </a:p>
        </p:txBody>
      </p:sp>
      <p:sp>
        <p:nvSpPr>
          <p:cNvPr id="60" name="Google Shape;60;p5"/>
          <p:cNvSpPr txBox="1"/>
          <p:nvPr/>
        </p:nvSpPr>
        <p:spPr>
          <a:xfrm>
            <a:off x="-118359" y="836812"/>
            <a:ext cx="8956800" cy="57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30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Develop an AI-powered agent</a:t>
            </a: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that understands natural language queries and performs GitHub operations such as issue creation, pull request management, and repository tracking.</a:t>
            </a:r>
            <a:b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Integrate Large Language Models (LLMs) with GitHub APIs</a:t>
            </a: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(REST/GraphQL) to accurately interpret user requests and execute repository actions automatically.</a:t>
            </a:r>
            <a:b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Provide a user-friendly interface</a:t>
            </a: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that allows users to interact with GitHub using simple natural language commands.</a:t>
            </a:r>
            <a:b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Automate code review processes</a:t>
            </a: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including linting, formatting, and testing to improve code quality and development efficiency.</a:t>
            </a:r>
            <a:b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Analyze pull requests and commit messages using NLP</a:t>
            </a: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to generate insights and improve collaboration within development teams.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Literature Review</a:t>
            </a:r>
            <a:endParaRPr b="0"/>
          </a:p>
        </p:txBody>
      </p:sp>
      <p:sp>
        <p:nvSpPr>
          <p:cNvPr id="66" name="Google Shape;66;p6"/>
          <p:cNvSpPr txBox="1"/>
          <p:nvPr/>
        </p:nvSpPr>
        <p:spPr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9525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67" name="Google Shape;67;p6"/>
          <p:cNvGraphicFramePr/>
          <p:nvPr/>
        </p:nvGraphicFramePr>
        <p:xfrm>
          <a:off x="110168" y="88134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{000D4A2D-97CE-4F2B-B49E-429FE4956FFF}</a:tableStyleId>
              </a:tblPr>
              <a:tblGrid>
                <a:gridCol w="542250"/>
                <a:gridCol w="1760275"/>
                <a:gridCol w="1465250"/>
                <a:gridCol w="1421175"/>
                <a:gridCol w="1828800"/>
                <a:gridCol w="1905925"/>
              </a:tblGrid>
              <a:tr h="760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S. No.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Author &amp;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Paper Title </a:t>
                      </a:r>
                      <a:b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</a:b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[Citation]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Journal/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Conference</a:t>
                      </a:r>
                      <a:b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</a:b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(Year)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Tools/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Techniques/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Dataset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Key Findings/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Results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Limitations/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Gaps Identified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Anurag Pindoriya, Janki Velani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Advancements in GitHub Automation and Workflow: A Comprehensive Exploration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Not specified (2025)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Review-based study on GitHub automation &amp; workflows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Highlights recent advancements in GitHub automation, explores workflow optimization techniques and tools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 experimental evaluation; limited to literature review insights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Xinyu Zhang, Siddharth Muralee, Sourag Cherupattamoolayil, Aravind Machiry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 the Effectiveness of Large Language Models for GitHub Workflows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Purdue University / Preprint (2025)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Empirical evaluation of LLMs for CI/CD, workflow maintenance, code review automation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Shows LLMs can assist in workflow debugging, auto-fix, and action recommendations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Early-stage work; lacks large-scale industrial deployment evidence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Man Fai Wong, Shangxin Guo, Ching Nam Hang, Siu Wai Ho, Chee Wei Tan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Natural Language Generation and Understanding of Big Code for AI-Assisted Programming: A Review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City University of Hong Kong, Univ. of Adelaide, NTU (2025)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Literature review of big code understanding, NL2Code, Code2NL, AI programming assistants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Summarizes methods enabling code summarization, generation, and comprehension using AI techniques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Review-only; no new framework proposed; future integration with modern LLMs suggested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4.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Kinsman, T.; Wessel, M.; Gerosa, M. A.; Treude, C.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How Do Software Developers Use GitHub Actions to Automate Their Workflows?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MSR 2021 (Mining Software Repositories)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Regression Discontinuity Design; analysis of 416,266 GitHub repos; commit &amp; PR metric mining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Only ~0.7% of repos adopted GitHub Actions; adoption correlates with more rejected PRs and fewer commits in merged PRs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Sample is small; private repos excluded; possible confounding variables weren’t fully controlled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7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Literature Review (cont…)</a:t>
            </a:r>
            <a:endParaRPr b="0"/>
          </a:p>
        </p:txBody>
      </p:sp>
      <p:sp>
        <p:nvSpPr>
          <p:cNvPr id="73" name="Google Shape;73;p7"/>
          <p:cNvSpPr txBox="1"/>
          <p:nvPr/>
        </p:nvSpPr>
        <p:spPr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9525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74" name="Google Shape;74;p7"/>
          <p:cNvGraphicFramePr/>
          <p:nvPr/>
        </p:nvGraphicFramePr>
        <p:xfrm>
          <a:off x="110168" y="88134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{000D4A2D-97CE-4F2B-B49E-429FE4956FFF}</a:tableStyleId>
              </a:tblPr>
              <a:tblGrid>
                <a:gridCol w="542250"/>
                <a:gridCol w="1760275"/>
                <a:gridCol w="1465250"/>
                <a:gridCol w="1421175"/>
                <a:gridCol w="1828800"/>
                <a:gridCol w="1905925"/>
              </a:tblGrid>
              <a:tr h="760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S. No.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Author &amp;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Paper Title </a:t>
                      </a:r>
                      <a:b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</a:b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[Citation]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Journal/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Conference</a:t>
                      </a:r>
                      <a:b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</a:b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(Year)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Tools/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Techniques/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Dataset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Key Findings/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Results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Limitations/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Gaps Identified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5.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Zheng, L.; Li, S.; Huang, X.; Huang, J.;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Why Do GitHub Actions Workflows Fail? An Empirical Study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ACM / 2024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Manual classification of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375</a:t>
                      </a: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failed workflow runs across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260</a:t>
                      </a: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Java projects (log mining, error taxonomy)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Focused on Java; only failed runs; ambiguous root causes in some cases; limited generalizability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Focused on Java; only failed runs; ambiguous root causes in some cases; limited generalizability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6.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Rostami Mazrae, P.; Decan, A.; Mens, T.; Wessel, M.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 Empirical Study of the Evolution of GitHub Actions Workflows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SSRN / to be published (2025)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Mixed-method: qualitative analysis of 439 modified workflows + quantitative over 31K+ repos with 131K+ workflow versions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Identified 7 conceptual change types; median 2 workflow files per repo; small changes are common; workflows change ~8.4% per week; need tooling for fine-grained maintenance, better debugging &amp; validation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SSRN preprint (not peer reviewed yet); limited to open source public repos; may miss context of why changes were made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7.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Decan, A.; Mens, T.; Onsori Delicheh, H.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 the Outdatedness of Workflows in the GitHub Actions Ecosystem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Journal of Systems &amp; Software, 2023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Empirical analysis of ~1M workflows from 22K+ repos over Nov 2019–Sep 2022; metrics: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technical lag</a:t>
                      </a: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and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opportunity lag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Most workflows use outdated Action releases; median lag ~7 months; many workflows had opportunity to update but didn’t (~9 months)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Doesn’t deeply examine reasons for not updating; only public repos; doesn’t consider private / organizational constraints; potential tool support not fully explored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8.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Ceka, I.; Pujar, S.; Manotas, I.; Kaiser, G.; Ray, B.; Ramji, S.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How Does LLM Reasoning Work for Code? A Survey and a Call to Action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arXiv preprint (2025)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Survey of reasoning paradigms, taxonomy, benchmark analysis across tasks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Proposes taxonomy of reasoning techniques, highlights under-explored approaches, maps performance on common benchmarks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 a survey, lacks novel empirical validation; real-world deployment of reasoning techniques not deeply evaluated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8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Literature Review (cont…)</a:t>
            </a:r>
            <a:endParaRPr b="0"/>
          </a:p>
        </p:txBody>
      </p:sp>
      <p:sp>
        <p:nvSpPr>
          <p:cNvPr id="80" name="Google Shape;80;p8"/>
          <p:cNvSpPr txBox="1"/>
          <p:nvPr/>
        </p:nvSpPr>
        <p:spPr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9525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81" name="Google Shape;81;p8"/>
          <p:cNvGraphicFramePr/>
          <p:nvPr/>
        </p:nvGraphicFramePr>
        <p:xfrm>
          <a:off x="110168" y="88134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{000D4A2D-97CE-4F2B-B49E-429FE4956FFF}</a:tableStyleId>
              </a:tblPr>
              <a:tblGrid>
                <a:gridCol w="542250"/>
                <a:gridCol w="1760275"/>
                <a:gridCol w="1465250"/>
                <a:gridCol w="1421175"/>
                <a:gridCol w="1828800"/>
                <a:gridCol w="1905925"/>
              </a:tblGrid>
              <a:tr h="760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S. No.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Author &amp;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Paper Title </a:t>
                      </a:r>
                      <a:b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</a:b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[Citation]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Journal/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Conference</a:t>
                      </a:r>
                      <a:b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</a:b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(Year)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Tools/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Techniques/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Dataset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Key Findings/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Results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Limitations/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Gaps Identified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9.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Jin, H.; Chen, H.; Lu, Q.; Zhu, L.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Towards Advancing Code Generation with Large Language Models: A Research Roadmap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arXiv preprint (2025)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Framework of six layers (input, orchestration, development, validation, etc.); analysis of challenges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Presents layered roadmap for improving LLM-based code generation and discusses difficulties in robustness and trustworthiness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Conceptual roadmap; lacks concrete experiments or evaluation to validate layers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10.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Wang, J.; Zhang, Z.; He, Y.; et al.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Enhancing Code LLMs with Reinforcement Learning in Code Generation: A Survey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arXiv preprint (2024)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Systematic literature review of RL techniques applied to code generation; benchmark &amp; dataset discussion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Highlights RL’s role in compiler optimization, resource allocation, tools; outlines challenges and future directions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 a survey, lacks new experiments; integrating RL in large codebases remains less explored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11.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Jiang, J.; Wang, F.; Shen, J.; Kim, S.; Kim, S.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 Survey on Large Language Models for Code Generation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arXiv preprint (2024)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Literature review; taxonomy of components such as data, tuning, evaluation; empirical comparison on benchmarks (HumanEval, MBPP)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Provides an up-to-date classification of techniques, empirical comparisons, identifies gaps like evaluation metrics, ethical concerns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Being a survey, it does not propose novel models; fast pace of field may mean some techniques are quickly outdated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12.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Xin Zhou, Kisub Kim, Ting Zhang, Martin Weyssow, Luís F. Gomes, Guang Yang, David Lo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 LLM-as-Judge Metric for Bridging the Gap with Human Evaluation in SE Tasks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arXiv preprint (2025)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Proposed metric “SWE-Judge” using LLMs as evaluators; compared against human judgments across SE tasks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SWE-Judge correlates better with human evaluations than existing metrics on tasks like code generation, program repair, summarization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Preprint (not peer reviewed); possible bias if LLM aligns too closely with human style; generalization to other domains needs testing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9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Literature Review (cont…)</a:t>
            </a:r>
            <a:endParaRPr b="0"/>
          </a:p>
        </p:txBody>
      </p:sp>
      <p:sp>
        <p:nvSpPr>
          <p:cNvPr id="87" name="Google Shape;87;p9"/>
          <p:cNvSpPr txBox="1"/>
          <p:nvPr/>
        </p:nvSpPr>
        <p:spPr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9525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88" name="Google Shape;88;p9"/>
          <p:cNvGraphicFramePr/>
          <p:nvPr/>
        </p:nvGraphicFramePr>
        <p:xfrm>
          <a:off x="110168" y="88134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{000D4A2D-97CE-4F2B-B49E-429FE4956FFF}</a:tableStyleId>
              </a:tblPr>
              <a:tblGrid>
                <a:gridCol w="542250"/>
                <a:gridCol w="1760275"/>
                <a:gridCol w="1465250"/>
                <a:gridCol w="1421175"/>
                <a:gridCol w="1828800"/>
                <a:gridCol w="1905925"/>
              </a:tblGrid>
              <a:tr h="760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S. No.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Author &amp;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Paper Title </a:t>
                      </a:r>
                      <a:b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</a:b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[Citation]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Journal/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Conference</a:t>
                      </a:r>
                      <a:b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</a:b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(Year)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Tools/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Techniques/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Dataset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Key Findings/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Results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Limitations/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Gaps Identified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13.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(No authors listed)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AI2Agent: An End-to-End Framework for Deploying AI Projects as Autonomous Agents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arXiv preprint (2025)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Framework combining guideline execution, self-adaptive debugging, case-based learning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Enables AI projects to run autonomously with less human intervention (agentic deployment)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Lacks large-scale empirical evaluation; complexity of debugging autonomous systems not fully explored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14.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Tula Masterman, Sandi Besen, Mason Sawtell, Alex Chao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The Landscape of Emerging AI Agent Architectures for Reasoning, Planning, and Tool Calling: A Survey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arXiv preprint (2024)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Literature survey of agent architectures, reasoning &amp; planning, tool use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Provides taxonomy of agent designs (single / multi), highlights trade-offs and open challenges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Survey-only; lacks new architecture proposal; fast-paced field may quickly outdated parts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15.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Satyadhar Joshi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 Review of Generative AI and DevOps Pipelines: CI/CD, Agentic Automation, MLOps Integration, and Large Language Models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Preprints / 2025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Review of ~50 works (2023–2025) on integration of generative AI with DevOps, CI/CD, IaC, agents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Summarizes trends: AI-driven pipeline automation, agentic workflows, cloud-native DevOps enhancements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 a review, it does not present new experiments; may miss very recent works; depth of each topic is limited by breadth coverage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16.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Pablo Valenzuela-Toledo, Alexandre Bergel, Timo Kehrer, Oscar Nierstrasz –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The Hidden Costs of Automation: An Empirical Study on GitHub Actions Workflow Maintenance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20th IEEE/ACM International Conference on Mining Software Repositories (MSR 2023)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Empirical study on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700+ OSS GitHub repositories</a:t>
                      </a: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using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GitHub Actions</a:t>
                      </a: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workflows; data mining; statistical analysis.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Found that workflows require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frequent maintenance</a:t>
                      </a: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(due to dependency updates, configuration changes, and deprecated features). Maintenance effort is often underestimated and comparable to code maintenance.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Limited to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open-source projects on GitHub</a:t>
                      </a: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(may not generalize to private/enterprise repos). Study focuses only on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GitHub Actions</a:t>
                      </a: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, not other CI/CD platforms.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0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Literature Review (cont…)</a:t>
            </a:r>
            <a:endParaRPr b="0"/>
          </a:p>
        </p:txBody>
      </p:sp>
      <p:sp>
        <p:nvSpPr>
          <p:cNvPr id="94" name="Google Shape;94;p10"/>
          <p:cNvSpPr txBox="1"/>
          <p:nvPr/>
        </p:nvSpPr>
        <p:spPr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9525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95" name="Google Shape;95;p10"/>
          <p:cNvGraphicFramePr/>
          <p:nvPr/>
        </p:nvGraphicFramePr>
        <p:xfrm>
          <a:off x="110168" y="88134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{000D4A2D-97CE-4F2B-B49E-429FE4956FFF}</a:tableStyleId>
              </a:tblPr>
              <a:tblGrid>
                <a:gridCol w="542250"/>
                <a:gridCol w="1760275"/>
                <a:gridCol w="1465250"/>
                <a:gridCol w="1421175"/>
                <a:gridCol w="1828800"/>
                <a:gridCol w="1905925"/>
              </a:tblGrid>
              <a:tr h="760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S. No.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Author &amp;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Paper Title </a:t>
                      </a:r>
                      <a:b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</a:b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[Citation]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Journal/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Conference</a:t>
                      </a:r>
                      <a:b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</a:b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(Year)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Tools/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Techniques/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Dataset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Key Findings/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Results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Limitations/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0" i="0" lang="en-IN" sz="14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Gaps Identified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06029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17.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(No authors listed)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AI2Agent: An End-to-End Framework for Deploying AI Projects as Autonomous Agents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arXiv preprint (2025)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Framework combining guideline execution, self-adaptive debugging, case-based learning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Enables AI projects to run autonomously with less human intervention (agentic deployment)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Lacks large-scale empirical evaluation; complexity of debugging autonomous systems not fully explored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18.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Tula Masterman, Sandi Besen, Mason Sawtell, Alex Chao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The Landscape of Emerging AI Agent Architectures for Reasoning, Planning, and Tool Calling: A Survey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arXiv preprint (2024)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Literature survey of agent architectures, reasoning &amp; planning, tool use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Provides taxonomy of agent designs (single / multi), highlights trade-offs and open challenges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Survey-only; lacks new architecture proposal; fast-paced field may quickly outdated parts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19.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Satyadhar Joshi —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 Review of Generative AI and DevOps Pipelines: CI/CD, Agentic Automation, MLOps Integration, and Large Language Models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Preprints / 2025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Review of ~50 works (2023–2025) on integration of generative AI with DevOps, CI/CD, IaC, agents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Summarizes trends: AI-driven pipeline automation, agentic workflows, cloud-native DevOps enhancements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As a review, it does not present new experiments; may miss very recent works; depth of each topic is limited by breadth coverage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036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IN" sz="12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20.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Pablo Valenzuela-Toledo, Alexandre Bergel, Timo Kehrer, Oscar Nierstrasz – </a:t>
                      </a:r>
                      <a:r>
                        <a:rPr i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The Hidden Costs of Automation: An Empirical Study on GitHub Actions Workflow Maintenance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20th IEEE/ACM International Conference on Mining Software Repositories (MSR 2023)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Empirical study on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700+ OSS GitHub repositories</a:t>
                      </a: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using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GitHub Actions</a:t>
                      </a: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workflows; data mining; statistical analysis.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Found that workflows require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frequent maintenance</a:t>
                      </a: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(due to dependency updates, configuration changes, and deprecated features). Maintenance effort is often underestimated and comparable to code maintenance.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-952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Limited to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open-source projects on GitHub</a:t>
                      </a: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(may not generalize to private/enterprise repos). Study focuses only on </a:t>
                      </a:r>
                      <a:r>
                        <a:rPr b="1"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GitHub Actions</a:t>
                      </a:r>
                      <a:r>
                        <a:rPr lang="en-IN" sz="10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, not other CI/CD platforms.</a:t>
                      </a:r>
                      <a:endParaRPr b="0" i="0" sz="10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0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1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/>
              <a:t>Work Done (after MP-I)</a:t>
            </a:r>
            <a:endParaRPr/>
          </a:p>
        </p:txBody>
      </p:sp>
      <p:sp>
        <p:nvSpPr>
          <p:cNvPr id="101" name="Google Shape;101;p11"/>
          <p:cNvSpPr txBox="1"/>
          <p:nvPr/>
        </p:nvSpPr>
        <p:spPr>
          <a:xfrm>
            <a:off x="-129642" y="724547"/>
            <a:ext cx="8956800" cy="60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04800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project extends the previous semester’s GitHub AI Agent system by improving workflow automation, system reliability, and user interaction capabilities.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hybrid NLP architecture combining rule-based processing and LLM-based reasoning was implemented for accurate intent detection and efficient GitHub command execution.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backend was developed using Python and FastAPI, while the frontend was redesigned with a modern responsive conversational interface for better user experience.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Integration with GitHub REST and GraphQL APIs enabled repository operations such as issue management, pull request tracking, repository analysis, and activity summarization.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MongoDB integration was implemented for storing user information, chat sessions, analytics data, and workflow-related records.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Error handling, caching mechanisms, and API testing using Postman and pytest were incorporated to improve system stability, performance, and reliability.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Dataset</a:t>
            </a:r>
            <a:endParaRPr/>
          </a:p>
        </p:txBody>
      </p:sp>
      <p:sp>
        <p:nvSpPr>
          <p:cNvPr id="107" name="Google Shape;107;p12"/>
          <p:cNvSpPr txBox="1"/>
          <p:nvPr/>
        </p:nvSpPr>
        <p:spPr>
          <a:xfrm>
            <a:off x="77118" y="788616"/>
            <a:ext cx="8956800" cy="57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IN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. commit_pr_dataset.csv</a:t>
            </a:r>
            <a:endParaRPr b="1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Contains </a:t>
            </a: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developer activity data from GitHub repositories</a:t>
            </a:r>
            <a:endParaRPr b="1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●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Includes: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○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Commit SHA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○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Author information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○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Commit message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○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Pull Request (PR) number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○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Timestamp of commits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Used to analyze </a:t>
            </a: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code changes, developer contributions, and repository activity trends</a:t>
            </a:r>
            <a:b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b="1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2. workflow_log.csv</a:t>
            </a:r>
            <a:endParaRPr b="1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Contains </a:t>
            </a: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GitHub Actions workflow execution data</a:t>
            </a:r>
            <a:b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Includes:</a:t>
            </a:r>
            <a:b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○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Workflow name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○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Head commit SHA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○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Workflow status (queued / completed)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○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Conclusion (success / failure)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○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Workflow start time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Used to analyze </a:t>
            </a: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CI/CD pipeline performance and automation behaviour</a:t>
            </a:r>
            <a:endParaRPr b="1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3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Project Design</a:t>
            </a:r>
            <a:endParaRPr/>
          </a:p>
        </p:txBody>
      </p:sp>
      <p:sp>
        <p:nvSpPr>
          <p:cNvPr id="113" name="Google Shape;113;p13"/>
          <p:cNvSpPr txBox="1"/>
          <p:nvPr/>
        </p:nvSpPr>
        <p:spPr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marR="0" rtl="0" algn="just">
              <a:lnSpc>
                <a:spcPct val="150000"/>
              </a:lnSpc>
              <a:spcBef>
                <a:spcPts val="63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14" name="Google Shape;11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79450" y="789171"/>
            <a:ext cx="5766875" cy="564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4"/>
          <p:cNvSpPr txBox="1"/>
          <p:nvPr/>
        </p:nvSpPr>
        <p:spPr>
          <a:xfrm>
            <a:off x="153050" y="872550"/>
            <a:ext cx="9144000" cy="57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IN" sz="19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Architecture Layer:</a:t>
            </a:r>
            <a:br>
              <a:rPr b="1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b="1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Frontend Layer</a:t>
            </a:r>
            <a:endParaRPr b="1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Helvetica Neue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React + TypeScript + Tailwind UI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Helvetica Neue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Chat interface for natural language commands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Helvetica Neue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Authentication &amp; analytics dashboard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Helvetica Neue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Displays AI responses interactively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Backend Layer (FastAPI)</a:t>
            </a:r>
            <a:endParaRPr b="1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Helvetica Neue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Handles API requests and routing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Endpoints: </a:t>
            </a:r>
            <a:r>
              <a:rPr b="0" i="0" lang="en-IN" sz="1700" u="none" cap="none" strike="noStrike">
                <a:solidFill>
                  <a:srgbClr val="18803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/chat</a:t>
            </a: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b="0" i="0" lang="en-IN" sz="1700" u="none" cap="none" strike="noStrike">
                <a:solidFill>
                  <a:srgbClr val="18803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/login</a:t>
            </a: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b="0" i="0" lang="en-IN" sz="1700" u="none" cap="none" strike="noStrike">
                <a:solidFill>
                  <a:srgbClr val="18803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/bugs</a:t>
            </a:r>
            <a:endParaRPr b="0" i="0" sz="1700" u="none" cap="none" strike="noStrike">
              <a:solidFill>
                <a:srgbClr val="188038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Helvetica Neue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Connects frontend with AI &amp; GitHub APIs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Helvetica Neue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Manages authentication and services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AI Agent Core</a:t>
            </a:r>
            <a:endParaRPr b="1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Helvetica Neue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Intent detection &amp; NLP processing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Helvetica Neue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Extracts parameters from user queries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Helvetica Neue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Converts natural language into GitHub actions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Helvetica Neue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Maintains conversation context</a:t>
            </a:r>
            <a:endParaRPr b="1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20" name="Google Shape;120;p14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Project Design </a:t>
            </a:r>
            <a:r>
              <a:rPr b="0" lang="en-IN" sz="2400"/>
              <a:t>(cont…)</a:t>
            </a:r>
            <a:endParaRPr b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7db60ffec_1_1"/>
          <p:cNvSpPr txBox="1"/>
          <p:nvPr>
            <p:ph type="title"/>
          </p:nvPr>
        </p:nvSpPr>
        <p:spPr>
          <a:xfrm>
            <a:off x="40640" y="30480"/>
            <a:ext cx="8328900" cy="694200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IN"/>
              <a:t>Project Design </a:t>
            </a:r>
            <a:r>
              <a:rPr b="0" lang="en-IN"/>
              <a:t>(cont…)</a:t>
            </a:r>
            <a:endParaRPr/>
          </a:p>
        </p:txBody>
      </p:sp>
      <p:sp>
        <p:nvSpPr>
          <p:cNvPr id="127" name="Google Shape;127;g3e7db60ffec_1_1"/>
          <p:cNvSpPr txBox="1"/>
          <p:nvPr>
            <p:ph idx="1" type="body"/>
          </p:nvPr>
        </p:nvSpPr>
        <p:spPr>
          <a:xfrm>
            <a:off x="86197" y="782321"/>
            <a:ext cx="8953500" cy="59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500"/>
              <a:t>MongoDB Layer</a:t>
            </a:r>
            <a:endParaRPr b="1" sz="1500"/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Helvetica Neue"/>
              <a:buChar char="●"/>
            </a:pPr>
            <a:r>
              <a:rPr lang="en-IN" sz="1500"/>
              <a:t>Stores users and chat sessions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Helvetica Neue"/>
              <a:buChar char="●"/>
            </a:pPr>
            <a:r>
              <a:rPr lang="en-IN" sz="1500"/>
              <a:t>Maintains repository-related data</a:t>
            </a:r>
            <a:endParaRPr sz="15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500"/>
              <a:t>AI Provider Layer</a:t>
            </a:r>
            <a:endParaRPr b="1" sz="1500"/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Helvetica Neue"/>
              <a:buChar char="●"/>
            </a:pPr>
            <a:r>
              <a:rPr lang="en-IN" sz="1500"/>
              <a:t>OpenAI GPT / Hugging Face integration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Helvetica Neue"/>
              <a:buChar char="●"/>
            </a:pPr>
            <a:r>
              <a:rPr lang="en-IN" sz="1500"/>
              <a:t>Generates summaries and intelligent responses</a:t>
            </a:r>
            <a:endParaRPr sz="1500"/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IN" sz="1500"/>
              <a:t>GitHub REST API Layer</a:t>
            </a:r>
            <a:endParaRPr b="1" sz="1500"/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Helvetica Neue"/>
              <a:buChar char="●"/>
            </a:pPr>
            <a:r>
              <a:rPr lang="en-IN" sz="1500"/>
              <a:t>Executes GitHub operations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Helvetica Neue"/>
              <a:buChar char="●"/>
            </a:pPr>
            <a:r>
              <a:rPr lang="en-IN" sz="1500"/>
              <a:t>Creates issues &amp; manages pull requests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Helvetica Neue"/>
              <a:buChar char="●"/>
            </a:pPr>
            <a:r>
              <a:rPr lang="en-IN" sz="1500"/>
              <a:t>Fetches commits, comments, and analytics</a:t>
            </a:r>
            <a:endParaRPr sz="1500"/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2250"/>
              <a:buNone/>
            </a:pPr>
            <a:r>
              <a:rPr b="1" lang="en-IN" sz="1500"/>
              <a:t>Flow Example</a:t>
            </a:r>
            <a:endParaRPr b="1" sz="1500"/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Helvetica Neue"/>
              <a:buAutoNum type="arabicPeriod"/>
            </a:pPr>
            <a:r>
              <a:rPr lang="en-IN" sz="1500"/>
              <a:t>User sends a GitHub command in chat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Helvetica Neue"/>
              <a:buAutoNum type="arabicPeriod"/>
            </a:pPr>
            <a:r>
              <a:rPr lang="en-IN" sz="1500"/>
              <a:t>Frontend forwards request to FastAPI backend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Helvetica Neue"/>
              <a:buAutoNum type="arabicPeriod"/>
            </a:pPr>
            <a:r>
              <a:rPr lang="en-IN" sz="1500"/>
              <a:t>AI Agent detects intent and extracts parameters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Helvetica Neue"/>
              <a:buAutoNum type="arabicPeriod"/>
            </a:pPr>
            <a:r>
              <a:rPr lang="en-IN" sz="1500"/>
              <a:t>Backend calls GitHub REST API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Helvetica Neue"/>
              <a:buAutoNum type="arabicPeriod"/>
            </a:pPr>
            <a:r>
              <a:rPr lang="en-IN" sz="1500"/>
              <a:t>MongoDB stores logs and conversation history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Helvetica Neue"/>
              <a:buAutoNum type="arabicPeriod"/>
            </a:pPr>
            <a:r>
              <a:rPr lang="en-IN" sz="1500"/>
              <a:t>Response returned to user in chat interface</a:t>
            </a:r>
            <a:endParaRPr sz="15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2250"/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Tools, Technologies and Languages</a:t>
            </a:r>
            <a:endParaRPr b="0"/>
          </a:p>
        </p:txBody>
      </p:sp>
      <p:sp>
        <p:nvSpPr>
          <p:cNvPr id="133" name="Google Shape;133;p17"/>
          <p:cNvSpPr txBox="1"/>
          <p:nvPr/>
        </p:nvSpPr>
        <p:spPr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Programming Languages</a:t>
            </a:r>
            <a:endParaRPr b="1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Python 3.12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Backend development, API handling, and AI/LLM processing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TypeScript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Used in frontend development for building a scalable and type-safe application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JavaScript (React.js)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Used for developing interactive user interfaces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AI / Machine Learning Frameworks</a:t>
            </a:r>
            <a:endParaRPr b="1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OpenAI LLM API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Natural language understanding, intent extraction, and response generation</a:t>
            </a:r>
            <a:endParaRPr b="0" i="1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Hugging Face Transformers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NLP processing and text analysis </a:t>
            </a:r>
            <a:endParaRPr b="0" i="1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Scikit-learn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Machine learning models for classification and predictive analysis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endParaRPr b="0" i="1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Backend Framework</a:t>
            </a:r>
            <a:endParaRPr b="1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FastAPI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High-performance backend framework for building REST APIs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8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Tools, Technologies and Languages (cont…)</a:t>
            </a:r>
            <a:endParaRPr b="0"/>
          </a:p>
        </p:txBody>
      </p:sp>
      <p:sp>
        <p:nvSpPr>
          <p:cNvPr id="139" name="Google Shape;139;p18"/>
          <p:cNvSpPr txBox="1"/>
          <p:nvPr/>
        </p:nvSpPr>
        <p:spPr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APIs &amp; Workflow Integration</a:t>
            </a:r>
            <a:endParaRPr b="1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GitHub REST API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Managing repository data, issues, and pull requests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GitHub GraphQL API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Efficient querying of repository information</a:t>
            </a:r>
            <a:b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Database &amp; Storage</a:t>
            </a:r>
            <a:endParaRPr b="1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MongoDB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Stores logs, message history, and metadata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Local JSON Datasets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Stores commit and pull request metadata</a:t>
            </a:r>
            <a:br>
              <a:rPr b="0" i="1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endParaRPr b="0" i="1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Development &amp; Deployment Tools</a:t>
            </a:r>
            <a:endParaRPr b="1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Docker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Containerization and deployment of the AI Agent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Visual Studio Code (VS Code)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Main development environment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Postman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API testing and debugging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Git &amp; GitHub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– Version control and project collaboration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marR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c55c434bff_0_22"/>
          <p:cNvSpPr txBox="1"/>
          <p:nvPr>
            <p:ph type="title"/>
          </p:nvPr>
        </p:nvSpPr>
        <p:spPr>
          <a:xfrm>
            <a:off x="40640" y="30480"/>
            <a:ext cx="8328900" cy="694200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/>
              <a:t>Implementation</a:t>
            </a:r>
            <a:endParaRPr/>
          </a:p>
        </p:txBody>
      </p:sp>
      <p:sp>
        <p:nvSpPr>
          <p:cNvPr id="146" name="Google Shape;146;g3c55c434bff_0_22"/>
          <p:cNvSpPr txBox="1"/>
          <p:nvPr>
            <p:ph idx="1" type="body"/>
          </p:nvPr>
        </p:nvSpPr>
        <p:spPr>
          <a:xfrm>
            <a:off x="86197" y="782321"/>
            <a:ext cx="8953500" cy="59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630"/>
              </a:spcBef>
              <a:spcAft>
                <a:spcPts val="0"/>
              </a:spcAft>
              <a:buSzPts val="2250"/>
              <a:buNone/>
            </a:pPr>
            <a:r>
              <a:t/>
            </a:r>
            <a:endParaRPr/>
          </a:p>
        </p:txBody>
      </p:sp>
      <p:pic>
        <p:nvPicPr>
          <p:cNvPr id="147" name="Google Shape;147;g3c55c434bff_0_22" title="Screenshot 2026-03-07 at 11.03.52 P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200" y="823775"/>
            <a:ext cx="8732150" cy="266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g3c55c434bff_0_22" title="Screenshot 2026-03-07 at 11.04.58 P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200" y="3486025"/>
            <a:ext cx="8732150" cy="3208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55c434bff_0_16"/>
          <p:cNvSpPr txBox="1"/>
          <p:nvPr>
            <p:ph type="title"/>
          </p:nvPr>
        </p:nvSpPr>
        <p:spPr>
          <a:xfrm>
            <a:off x="40640" y="30480"/>
            <a:ext cx="8328900" cy="694200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/>
              <a:t>Implementation</a:t>
            </a:r>
            <a:endParaRPr/>
          </a:p>
        </p:txBody>
      </p:sp>
      <p:sp>
        <p:nvSpPr>
          <p:cNvPr id="155" name="Google Shape;155;g3c55c434bff_0_16"/>
          <p:cNvSpPr txBox="1"/>
          <p:nvPr>
            <p:ph idx="1" type="body"/>
          </p:nvPr>
        </p:nvSpPr>
        <p:spPr>
          <a:xfrm>
            <a:off x="86197" y="782321"/>
            <a:ext cx="8953500" cy="59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630"/>
              </a:spcBef>
              <a:spcAft>
                <a:spcPts val="0"/>
              </a:spcAft>
              <a:buSzPts val="2250"/>
              <a:buNone/>
            </a:pPr>
            <a:r>
              <a:t/>
            </a:r>
            <a:endParaRPr/>
          </a:p>
        </p:txBody>
      </p:sp>
      <p:pic>
        <p:nvPicPr>
          <p:cNvPr id="156" name="Google Shape;156;g3c55c434bff_0_16" title="Screenshot 2026-03-07 at 11.19.52 P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5450" y="782325"/>
            <a:ext cx="8878874" cy="30505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g3c55c434bff_0_16" title="Screenshot 2026-03-07 at 11.21.52 P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7363" y="3832900"/>
            <a:ext cx="8811174" cy="2845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e7db60ffec_1_12"/>
          <p:cNvSpPr txBox="1"/>
          <p:nvPr>
            <p:ph type="title"/>
          </p:nvPr>
        </p:nvSpPr>
        <p:spPr>
          <a:xfrm>
            <a:off x="40640" y="30480"/>
            <a:ext cx="8328900" cy="694200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4" name="Google Shape;164;g3e7db60ffec_1_12"/>
          <p:cNvSpPr txBox="1"/>
          <p:nvPr>
            <p:ph idx="1" type="body"/>
          </p:nvPr>
        </p:nvSpPr>
        <p:spPr>
          <a:xfrm>
            <a:off x="40650" y="782325"/>
            <a:ext cx="8777700" cy="559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630"/>
              </a:spcBef>
              <a:spcAft>
                <a:spcPts val="0"/>
              </a:spcAft>
              <a:buSzPts val="2250"/>
              <a:buNone/>
            </a:pPr>
            <a:r>
              <a:t/>
            </a:r>
            <a:endParaRPr/>
          </a:p>
        </p:txBody>
      </p:sp>
      <p:pic>
        <p:nvPicPr>
          <p:cNvPr id="165" name="Google Shape;165;g3e7db60ffec_1_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5412" y="831663"/>
            <a:ext cx="8662950" cy="5591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Implementation</a:t>
            </a:r>
            <a:endParaRPr/>
          </a:p>
        </p:txBody>
      </p:sp>
      <p:pic>
        <p:nvPicPr>
          <p:cNvPr id="171" name="Google Shape;171;p19" title="Screenshot 2026-03-07 at 10.31.43 P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954" y="782454"/>
            <a:ext cx="8839199" cy="5826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0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Implementation (cont…)</a:t>
            </a:r>
            <a:endParaRPr/>
          </a:p>
        </p:txBody>
      </p:sp>
      <p:pic>
        <p:nvPicPr>
          <p:cNvPr id="177" name="Google Shape;177;p20" title="Screenshot 2026-03-07 at 10.33.23 P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840350"/>
            <a:ext cx="8839199" cy="578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1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Implementation (cont…)</a:t>
            </a:r>
            <a:endParaRPr/>
          </a:p>
        </p:txBody>
      </p:sp>
      <p:pic>
        <p:nvPicPr>
          <p:cNvPr id="183" name="Google Shape;183;p21" title="Screenshot 2026-03-07 at 10.35.20 P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876944"/>
            <a:ext cx="8839204" cy="57489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2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Implementation (cont…)</a:t>
            </a:r>
            <a:endParaRPr/>
          </a:p>
        </p:txBody>
      </p:sp>
      <p:pic>
        <p:nvPicPr>
          <p:cNvPr id="189" name="Google Shape;189;p22" title="Screenshot 2026-03-07 at 10.36.09 P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823775"/>
            <a:ext cx="8839199" cy="57489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Experimental Results and Evaluation</a:t>
            </a:r>
            <a:endParaRPr/>
          </a:p>
        </p:txBody>
      </p:sp>
      <p:sp>
        <p:nvSpPr>
          <p:cNvPr id="195" name="Google Shape;195;p23"/>
          <p:cNvSpPr txBox="1"/>
          <p:nvPr/>
        </p:nvSpPr>
        <p:spPr>
          <a:xfrm>
            <a:off x="93643" y="724556"/>
            <a:ext cx="8956800" cy="57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Result Observed:</a:t>
            </a:r>
            <a:endParaRPr b="1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AI agent successfully interpreted natural language queries and converted them into valid GitHub API actions.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Repository operations such as issue creation, issue updates, pull request tracking, and commit retrieval were executed successfully in real time.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system demonstrated reliable performance with fast response times and efficient API communication.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Error handling and fallback mechanisms successfully managed invalid inputs, ambiguous queries, and API rate limits.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conversational interface simplified GitHub workflow management for non-technical users.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65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●"/>
            </a:pPr>
            <a:r>
              <a:rPr b="0" i="0" lang="en-IN" sz="17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Integration between FastAPI backend, MongoDB, AI services, and GitHub APIs worked efficiently during testing and evaluation</a:t>
            </a:r>
            <a:endParaRPr b="0" i="0" sz="17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4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Experimental Results and Evaluation (cont…)</a:t>
            </a:r>
            <a:endParaRPr/>
          </a:p>
        </p:txBody>
      </p:sp>
      <p:sp>
        <p:nvSpPr>
          <p:cNvPr id="201" name="Google Shape;201;p24"/>
          <p:cNvSpPr txBox="1"/>
          <p:nvPr/>
        </p:nvSpPr>
        <p:spPr>
          <a:xfrm>
            <a:off x="77118" y="804231"/>
            <a:ext cx="8956800" cy="57948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63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IN" sz="1800" u="none" cap="none" strike="noStrik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Experimental Results (Command Testing)</a:t>
            </a:r>
            <a:endParaRPr b="1" i="0" sz="18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202" name="Google Shape;202;p24"/>
          <p:cNvGraphicFramePr/>
          <p:nvPr/>
        </p:nvGraphicFramePr>
        <p:xfrm>
          <a:off x="326955" y="1356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{56348EC9-580B-456C-A9C5-6F4C7591FC5E}</a:tableStyleId>
              </a:tblPr>
              <a:tblGrid>
                <a:gridCol w="2724625"/>
                <a:gridCol w="2817700"/>
                <a:gridCol w="2927000"/>
              </a:tblGrid>
              <a:tr h="651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Command</a:t>
                      </a:r>
                      <a:endParaRPr b="1"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Expected Output</a:t>
                      </a:r>
                      <a:endParaRPr b="1"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ACAC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Result</a:t>
                      </a:r>
                      <a:endParaRPr b="1"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ACACA"/>
                    </a:solidFill>
                  </a:tcPr>
                </a:tc>
              </a:tr>
              <a:tr h="70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Show issues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Found open issues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Successfully retrieved issue list/ </a:t>
                      </a:r>
                      <a:r>
                        <a:rPr lang="en-IN" sz="1600" u="none" cap="none" strike="noStrike">
                          <a:solidFill>
                            <a:srgbClr val="1F2937"/>
                          </a:solidFill>
                          <a:highlight>
                            <a:srgbClr val="FFFFFF"/>
                          </a:highlight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Found 3 open issues</a:t>
                      </a:r>
                      <a:r>
                        <a:rPr lang="en-IN" sz="1050" u="none" cap="none" strike="noStrike">
                          <a:solidFill>
                            <a:srgbClr val="1F2937"/>
                          </a:solidFill>
                          <a:highlight>
                            <a:srgbClr val="FFFFFF"/>
                          </a:highlight>
                        </a:rPr>
                        <a:t> 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Show closed issues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Display closed issues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solidFill>
                            <a:srgbClr val="1F2937"/>
                          </a:solidFill>
                          <a:highlight>
                            <a:srgbClr val="FFFFFF"/>
                          </a:highlight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No closed issues found 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4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Create bug [description]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Create a GitHub issue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Issue created successfully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8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Close all issues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Close open issues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Issues closed via GitHub API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506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Repo info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Show repository details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Repository metadata displayed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31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Bug analysis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Show bug statistics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IN" sz="16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Correct issue statistics generated</a:t>
                      </a:r>
                      <a:endParaRPr sz="16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5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Experimental Results and Evaluation (cont…)</a:t>
            </a:r>
            <a:endParaRPr/>
          </a:p>
        </p:txBody>
      </p:sp>
      <p:sp>
        <p:nvSpPr>
          <p:cNvPr id="208" name="Google Shape;208;p25"/>
          <p:cNvSpPr txBox="1"/>
          <p:nvPr/>
        </p:nvSpPr>
        <p:spPr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Performance Insights</a:t>
            </a:r>
            <a:endParaRPr b="1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●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Most commands executed </a:t>
            </a: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within 1–2 seconds</a:t>
            </a: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●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system handled </a:t>
            </a: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multiple sequential queries efficiently</a:t>
            </a: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●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GitHub API integration ensured </a:t>
            </a: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real-time repository updates</a:t>
            </a:r>
            <a:endParaRPr b="1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●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AI Agent correctly mapped </a:t>
            </a: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natural language commands to GitHub API operations</a:t>
            </a: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●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Commands were executed successfully with </a:t>
            </a: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real-time repository data retrieval</a:t>
            </a: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Evaluation-Comparison with Traditional GitHub Usage</a:t>
            </a:r>
            <a:endParaRPr b="1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209" name="Google Shape;209;p25"/>
          <p:cNvGraphicFramePr/>
          <p:nvPr/>
        </p:nvGraphicFramePr>
        <p:xfrm>
          <a:off x="800850" y="38662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{56348EC9-580B-456C-A9C5-6F4C7591FC5E}</a:tableStyleId>
              </a:tblPr>
              <a:tblGrid>
                <a:gridCol w="2514100"/>
                <a:gridCol w="2514100"/>
                <a:gridCol w="2514100"/>
              </a:tblGrid>
              <a:tr h="445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IN" sz="1400" u="none" cap="none" strike="noStrike"/>
                        <a:t>Feature</a:t>
                      </a:r>
                      <a:endParaRPr b="1" sz="14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IN" sz="1400" u="none" cap="none" strike="noStrike"/>
                        <a:t>Traditional GitHub</a:t>
                      </a:r>
                      <a:endParaRPr b="1" sz="14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999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IN" sz="1400" u="none" cap="none" strike="noStrike"/>
                        <a:t>AI Agent</a:t>
                      </a:r>
                      <a:endParaRPr b="1" sz="1400" u="none" cap="none" strike="noStrike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99999"/>
                    </a:solidFill>
                  </a:tcPr>
                </a:tc>
              </a:tr>
              <a:tr h="44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IN" sz="1400" u="none" cap="none" strike="noStrike"/>
                        <a:t>Issue Management</a:t>
                      </a:r>
                      <a:endParaRPr sz="1400" u="none" cap="none" strike="noStrike"/>
                    </a:p>
                  </a:txBody>
                  <a:tcPr marT="91425" marB="91425" marR="91425" marL="91425"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IN" sz="1400" u="none" cap="none" strike="noStrike"/>
                        <a:t>Manual navigation</a:t>
                      </a:r>
                      <a:endParaRPr sz="1400" u="none" cap="none" strike="noStrike"/>
                    </a:p>
                  </a:txBody>
                  <a:tcPr marT="91425" marB="91425" marR="91425" marL="91425"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IN" sz="1400" u="none" cap="none" strike="noStrike"/>
                        <a:t>Command-based</a:t>
                      </a:r>
                      <a:endParaRPr sz="1400" u="none" cap="none" strike="noStrike"/>
                    </a:p>
                  </a:txBody>
                  <a:tcPr marT="91425" marB="91425" marR="91425" marL="91425"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44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IN" sz="1400" u="none" cap="none" strike="noStrike"/>
                        <a:t>Bug Creation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IN" sz="1400" u="none" cap="none" strike="noStrike"/>
                        <a:t>Multiple Steps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IN" sz="1400" u="none" cap="none" strike="noStrike"/>
                        <a:t>Single Commands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4457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IN" sz="1400" u="none" cap="none" strike="noStrike"/>
                        <a:t>Repository Insight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IN" sz="1400" u="none" cap="none" strike="noStrike"/>
                        <a:t>Seperate Page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IN" sz="1400" u="none" cap="none" strike="noStrike"/>
                        <a:t>Instant Command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  <a:tr h="497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IN" sz="1400" u="none" cap="none" strike="noStrike"/>
                        <a:t>User Interaction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IN" sz="1400" u="none" cap="none" strike="noStrike"/>
                        <a:t>GUI Based  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IN" sz="1400" u="none" cap="none" strike="noStrike">
                          <a:solidFill>
                            <a:schemeClr val="dk1"/>
                          </a:solidFill>
                        </a:rPr>
                        <a:t>Natural Language</a:t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7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Publications</a:t>
            </a:r>
            <a:endParaRPr/>
          </a:p>
        </p:txBody>
      </p:sp>
      <p:sp>
        <p:nvSpPr>
          <p:cNvPr id="215" name="Google Shape;215;p27"/>
          <p:cNvSpPr txBox="1"/>
          <p:nvPr/>
        </p:nvSpPr>
        <p:spPr>
          <a:xfrm>
            <a:off x="60672" y="804231"/>
            <a:ext cx="8956800" cy="57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61938" lvl="0" marL="357188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Font typeface="Arial"/>
              <a:buChar char="•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Status: 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Under review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/>
          <p:nvPr>
            <p:ph type="title"/>
          </p:nvPr>
        </p:nvSpPr>
        <p:spPr>
          <a:xfrm>
            <a:off x="156840" y="5"/>
            <a:ext cx="8328900" cy="694200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Future Work</a:t>
            </a:r>
            <a:endParaRPr/>
          </a:p>
        </p:txBody>
      </p:sp>
      <p:sp>
        <p:nvSpPr>
          <p:cNvPr id="221" name="Google Shape;221;p28"/>
          <p:cNvSpPr txBox="1"/>
          <p:nvPr/>
        </p:nvSpPr>
        <p:spPr>
          <a:xfrm>
            <a:off x="7360" y="828875"/>
            <a:ext cx="8956800" cy="57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Advanced NLP &amp; Transformer Models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for better intent detection, contextual understanding, and handling of complex conversational queries.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Voice-Based GitHub Assistant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with speech-to-text and voice response capabilities for hands-free interaction.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Multi-Platform Integration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with platforms like GitLab, Bitbucket, Jira, and CI/CD tools for unified workflow automation.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Real-Time Notifications &amp; Collaboration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through smart alerts for pull requests, issue updates, workflow failures, and team activities.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AI-Based Predictive Analytics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to predict workflow failures, identify bottlenecks, estimate project risks, and recommend optimizations.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Enhanced Security &amp; Authentication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using OAuth-based authentication, role-based access control, and encrypted token management.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429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Self-Learning AI Agent</a:t>
            </a:r>
            <a:r>
              <a:rPr b="0" i="0" lang="en-IN" sz="18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that improves response accuracy over time using user interaction feedback mechanisms.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9"/>
          <p:cNvSpPr txBox="1"/>
          <p:nvPr>
            <p:ph type="title"/>
          </p:nvPr>
        </p:nvSpPr>
        <p:spPr>
          <a:xfrm>
            <a:off x="40640" y="30480"/>
            <a:ext cx="8328900" cy="694200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Project Plan</a:t>
            </a:r>
            <a:endParaRPr/>
          </a:p>
        </p:txBody>
      </p:sp>
      <p:sp>
        <p:nvSpPr>
          <p:cNvPr id="227" name="Google Shape;227;p29"/>
          <p:cNvSpPr txBox="1"/>
          <p:nvPr/>
        </p:nvSpPr>
        <p:spPr>
          <a:xfrm>
            <a:off x="-7139" y="724551"/>
            <a:ext cx="8956800" cy="57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28" name="Google Shape;228;p29"/>
          <p:cNvGraphicFramePr/>
          <p:nvPr/>
        </p:nvGraphicFramePr>
        <p:xfrm>
          <a:off x="86210" y="825092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{36B06DA8-E707-488B-BB37-6E6BD6E540F5}</a:tableStyleId>
              </a:tblPr>
              <a:tblGrid>
                <a:gridCol w="1204525"/>
                <a:gridCol w="337150"/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  <a:gridCol w="337150"/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  <a:gridCol w="382850"/>
              </a:tblGrid>
              <a:tr h="531375">
                <a:tc row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Activity</a:t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D9D9D9"/>
                    </a:solidFill>
                  </a:tcPr>
                </a:tc>
                <a:tc gridSpan="10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Year 2025</a:t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b">
                    <a:solidFill>
                      <a:srgbClr val="D9D9D9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gridSpan="10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Year 2026</a:t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b">
                    <a:solidFill>
                      <a:srgbClr val="D9D9D9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</a:tr>
              <a:tr h="531375">
                <a:tc v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Aug.</a:t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b">
                    <a:solidFill>
                      <a:srgbClr val="D9D9D9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Sept.</a:t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b">
                    <a:solidFill>
                      <a:srgbClr val="D9D9D9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Oct.</a:t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b">
                    <a:solidFill>
                      <a:srgbClr val="D9D9D9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Nov.</a:t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b">
                    <a:solidFill>
                      <a:srgbClr val="D9D9D9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Dec.</a:t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b">
                    <a:solidFill>
                      <a:srgbClr val="D9D9D9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Jan.</a:t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b">
                    <a:solidFill>
                      <a:srgbClr val="D9D9D9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Feb.</a:t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b">
                    <a:solidFill>
                      <a:srgbClr val="D9D9D9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Mar.</a:t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b">
                    <a:solidFill>
                      <a:srgbClr val="D9D9D9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Apr.</a:t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b">
                    <a:solidFill>
                      <a:srgbClr val="D9D9D9"/>
                    </a:solidFill>
                  </a:tcPr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b="1"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May</a:t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b">
                    <a:solidFill>
                      <a:srgbClr val="D9D9D9"/>
                    </a:solidFill>
                  </a:tcPr>
                </a:tc>
                <a:tc hMerge="1"/>
              </a:tr>
              <a:tr h="537000">
                <a:tc>
                  <a:txBody>
                    <a:bodyPr/>
                    <a:lstStyle/>
                    <a:p>
                      <a:pPr indent="0" lvl="0" marL="90170" marR="0" rtl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Literature Review</a:t>
                      </a:r>
                      <a:endParaRPr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</a:tr>
              <a:tr h="910925">
                <a:tc>
                  <a:txBody>
                    <a:bodyPr/>
                    <a:lstStyle/>
                    <a:p>
                      <a:pPr indent="0" lvl="0" marL="90170" marR="0" rtl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Analysis and Requirements</a:t>
                      </a:r>
                      <a:endParaRPr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7CBA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7CBA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7CBA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7CBA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7CBA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</a:tr>
              <a:tr h="910925">
                <a:tc>
                  <a:txBody>
                    <a:bodyPr/>
                    <a:lstStyle/>
                    <a:p>
                      <a:pPr indent="0" lvl="0" marL="90170" marR="0" rtl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Project Design and Architecture</a:t>
                      </a:r>
                      <a:endParaRPr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CC3E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CC3E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CC3E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CC3E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CC3E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</a:tr>
              <a:tr h="537000">
                <a:tc>
                  <a:txBody>
                    <a:bodyPr/>
                    <a:lstStyle/>
                    <a:p>
                      <a:pPr indent="0" lvl="0" marL="90170" marR="0" rtl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Implementation</a:t>
                      </a:r>
                      <a:endParaRPr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</a:tr>
              <a:tr h="910925">
                <a:tc>
                  <a:txBody>
                    <a:bodyPr/>
                    <a:lstStyle/>
                    <a:p>
                      <a:pPr indent="0" lvl="0" marL="90170" marR="0" rtl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Testing and Validation</a:t>
                      </a:r>
                      <a:endParaRPr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/>
                </a:tc>
              </a:tr>
              <a:tr h="910925">
                <a:tc>
                  <a:txBody>
                    <a:bodyPr/>
                    <a:lstStyle/>
                    <a:p>
                      <a:pPr indent="0" lvl="0" marL="90170" marR="0" rtl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IN" sz="115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Documentation and Write-up</a:t>
                      </a:r>
                      <a:endParaRPr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t/>
                      </a:r>
                      <a:endParaRPr b="1" sz="11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 anchor="ctr">
                    <a:solidFill>
                      <a:srgbClr val="00B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c55733fc47_0_6"/>
          <p:cNvSpPr txBox="1"/>
          <p:nvPr>
            <p:ph type="title"/>
          </p:nvPr>
        </p:nvSpPr>
        <p:spPr>
          <a:xfrm>
            <a:off x="40640" y="30480"/>
            <a:ext cx="8328900" cy="694200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/>
              <a:t>Project Plan</a:t>
            </a:r>
            <a:endParaRPr/>
          </a:p>
        </p:txBody>
      </p:sp>
      <p:sp>
        <p:nvSpPr>
          <p:cNvPr id="235" name="Google Shape;235;g3c55733fc47_0_6"/>
          <p:cNvSpPr txBox="1"/>
          <p:nvPr>
            <p:ph idx="1" type="body"/>
          </p:nvPr>
        </p:nvSpPr>
        <p:spPr>
          <a:xfrm>
            <a:off x="86197" y="782321"/>
            <a:ext cx="8953500" cy="59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630"/>
              </a:spcBef>
              <a:spcAft>
                <a:spcPts val="0"/>
              </a:spcAft>
              <a:buSzPts val="2250"/>
              <a:buNone/>
            </a:pPr>
            <a:r>
              <a:t/>
            </a:r>
            <a:endParaRPr/>
          </a:p>
        </p:txBody>
      </p:sp>
      <p:pic>
        <p:nvPicPr>
          <p:cNvPr id="236" name="Google Shape;236;g3c55733fc47_0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372" y="782325"/>
            <a:ext cx="8811549" cy="5788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0"/>
          <p:cNvSpPr txBox="1"/>
          <p:nvPr>
            <p:ph type="title"/>
          </p:nvPr>
        </p:nvSpPr>
        <p:spPr>
          <a:xfrm>
            <a:off x="-8939" y="-49333"/>
            <a:ext cx="8328900" cy="694200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Key Learnings</a:t>
            </a:r>
            <a:endParaRPr/>
          </a:p>
        </p:txBody>
      </p:sp>
      <p:sp>
        <p:nvSpPr>
          <p:cNvPr id="242" name="Google Shape;242;p30"/>
          <p:cNvSpPr txBox="1"/>
          <p:nvPr/>
        </p:nvSpPr>
        <p:spPr>
          <a:xfrm>
            <a:off x="-191068" y="724418"/>
            <a:ext cx="8956800" cy="57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98450" lvl="0" marL="457200" marR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Gained practical experience in integrating GitHub REST and GraphQL APIs for repository automation.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Learned to design and develop a full-stack AI-powered application using React, TypeScript, FastAPI, and MongoDB.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Developed understanding of hybrid NLP architecture combining rule-based processing with LLM-based intent detection.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Improved skills in natural language query processing, parameter extraction, and conversational AI workflows.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Learned API testing, validation, and debugging using Postman and FastAPI testing tools.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Gained experience in repository analytics, summarization, and GitHub workflow automation.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Enhanced knowledge of error handling, caching mechanisms, and scalable modular backend architecture.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b="0" i="0" lang="en-IN" sz="16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Learned secure authentication and token-based GitHub API integration for real-time operations.</a:t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3302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Helvetica Neue"/>
              <a:buChar char="•"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1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/>
              <a:t>Work Contribution and Attendance</a:t>
            </a:r>
            <a:endParaRPr b="0"/>
          </a:p>
        </p:txBody>
      </p:sp>
      <p:sp>
        <p:nvSpPr>
          <p:cNvPr id="248" name="Google Shape;248;p31"/>
          <p:cNvSpPr txBox="1"/>
          <p:nvPr/>
        </p:nvSpPr>
        <p:spPr>
          <a:xfrm>
            <a:off x="77118" y="804231"/>
            <a:ext cx="8956714" cy="51724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9525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249" name="Google Shape;249;p31"/>
          <p:cNvGraphicFramePr/>
          <p:nvPr/>
        </p:nvGraphicFramePr>
        <p:xfrm>
          <a:off x="110168" y="8813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{000D4A2D-97CE-4F2B-B49E-429FE4956FFF}</a:tableStyleId>
              </a:tblPr>
              <a:tblGrid>
                <a:gridCol w="863550"/>
                <a:gridCol w="1126250"/>
                <a:gridCol w="3955925"/>
                <a:gridCol w="1139000"/>
                <a:gridCol w="786550"/>
                <a:gridCol w="1044000"/>
              </a:tblGrid>
              <a:tr h="447775">
                <a:tc gridSpan="6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GitHub Repository URL: 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D5D59B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</a:tr>
              <a:tr h="6052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Team Member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Roll No.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Work Done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(provide complete details)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Helvetica Neue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Work Contribution (%)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Lines of Code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(if any)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Lab Attendance (%)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</a:tr>
              <a:tr h="16986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221030056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indent="-311150" lvl="0" marL="45720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Helvetica Neue"/>
                        <a:buChar char="•"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Implemented API endpoints for interacting with the AI agent.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indent="-323850" lvl="0" marL="45720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Helvetica Neue"/>
                        <a:buChar char="•"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Configured the </a:t>
                      </a:r>
                      <a:r>
                        <a:rPr b="1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Hugging Face transformer model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 for automated workflow analysis.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indent="-323850" lvl="0" marL="45720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Helvetica Neue"/>
                        <a:buChar char="•"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Connected backend APIs with the frontend interface.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33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</a:tr>
              <a:tr h="1304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2210300089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-8890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indent="-1714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Fixed missing modules and dependency issues.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indent="-1714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Helvetica Neue"/>
                        <a:buChar char="•"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Documented project setup and execution steps.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indent="-1714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Helvetica Neue"/>
                        <a:buChar char="•"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.Literature Review.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33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</a:tr>
              <a:tr h="9548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2210303330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indent="-1714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Project architecture Design.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indent="-1714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Helvetica Neue"/>
                        <a:buChar char="•"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Optimized project setup for smooth execution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indent="-1714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Helvetica Neue"/>
                        <a:buChar char="•"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Assisted in Connected backend APIs with the frontend interface..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33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</a:tr>
              <a:tr h="780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indent="-8890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t/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2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Supervisor </a:t>
            </a:r>
            <a:r>
              <a:rPr lang="en-IN"/>
              <a:t>Interactions </a:t>
            </a:r>
            <a:r>
              <a:rPr b="0" lang="en-IN"/>
              <a:t>(as mentioned in weekly log)</a:t>
            </a:r>
            <a:endParaRPr b="0"/>
          </a:p>
        </p:txBody>
      </p:sp>
      <p:sp>
        <p:nvSpPr>
          <p:cNvPr id="255" name="Google Shape;255;p32"/>
          <p:cNvSpPr txBox="1"/>
          <p:nvPr/>
        </p:nvSpPr>
        <p:spPr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9525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256" name="Google Shape;256;p32"/>
          <p:cNvGraphicFramePr/>
          <p:nvPr/>
        </p:nvGraphicFramePr>
        <p:xfrm>
          <a:off x="110168" y="8813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{000D4A2D-97CE-4F2B-B49E-429FE4956FFF}</a:tableStyleId>
              </a:tblPr>
              <a:tblGrid>
                <a:gridCol w="651825"/>
                <a:gridCol w="1364250"/>
                <a:gridCol w="5596575"/>
                <a:gridCol w="1222875"/>
              </a:tblGrid>
              <a:tr h="426075"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No. of Meetings with Supervisor: 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solidFill>
                      <a:srgbClr val="D5D59B"/>
                    </a:solidFill>
                  </a:tcPr>
                </a:tc>
                <a:tc hMerge="1"/>
                <a:tc hMerge="1"/>
                <a:tc hMerge="1"/>
              </a:tr>
              <a:tr h="507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Week No.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Duration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Remarks (</a:t>
                      </a:r>
                      <a:r>
                        <a:rPr b="1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as mentioned in the weekly log</a:t>
                      </a: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Incorporated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(Yes/No)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02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01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2026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Helvetica Neue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07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01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-3111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1: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Conducted literature survey and researched GitHub workflow automation.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111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2: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Studied GitHub REST API documentation and authentication methods.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111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3: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Prepared project requirements, objectives, and problem statement. 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Yes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9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/mm/2026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Helvetica Neue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14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/mm/2026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-3111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1: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Designed UI wireframes and frontend structure.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111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2: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Set up FastAPI backend and initial endpoints.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1714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3: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Configured MongoDB database and schema planning. 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Yes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16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01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Helvetica Neue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21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01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-3111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1: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Developed React frontend components and routing.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111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2: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Implemented GitHub API integration for repository operations.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1714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3: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Worked on backend-database connectivity. 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Yes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4.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23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01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Helvetica Neue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28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01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-3111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1: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Developed chat interface and dashboard layout.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111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2: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Implemented NLP intent detection and regex matching.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111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3: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Added authentication and API validation testing. 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Yes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5.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01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Helvetica Neue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04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02/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1: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Integrated frontend with backend APIs.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2: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Developed hybrid NLP architecture with LLM fallback.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3: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Performed debugging and MongoDB optimization. 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Yes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3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Supervisor </a:t>
            </a:r>
            <a:r>
              <a:rPr lang="en-IN"/>
              <a:t>Interactions</a:t>
            </a:r>
            <a:r>
              <a:rPr lang="en-IN" sz="2400"/>
              <a:t> </a:t>
            </a:r>
            <a:r>
              <a:rPr b="0" lang="en-IN" sz="2400"/>
              <a:t>(cont…)</a:t>
            </a:r>
            <a:endParaRPr b="0"/>
          </a:p>
        </p:txBody>
      </p:sp>
      <p:sp>
        <p:nvSpPr>
          <p:cNvPr id="262" name="Google Shape;262;p33"/>
          <p:cNvSpPr txBox="1"/>
          <p:nvPr/>
        </p:nvSpPr>
        <p:spPr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9525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263" name="Google Shape;263;p33"/>
          <p:cNvGraphicFramePr/>
          <p:nvPr/>
        </p:nvGraphicFramePr>
        <p:xfrm>
          <a:off x="110168" y="8813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{000D4A2D-97CE-4F2B-B49E-429FE4956FFF}</a:tableStyleId>
              </a:tblPr>
              <a:tblGrid>
                <a:gridCol w="651825"/>
                <a:gridCol w="1364250"/>
                <a:gridCol w="5596575"/>
                <a:gridCol w="1222875"/>
              </a:tblGrid>
              <a:tr h="5074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Week No.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Duration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Remarks (</a:t>
                      </a:r>
                      <a:r>
                        <a:rPr b="1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as mentioned in the weekly log</a:t>
                      </a: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Incorporated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solidFill>
                            <a:schemeClr val="dk1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(Yes/No)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D5D59B"/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6.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06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02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Helvetica Neue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11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02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Yes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7.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13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02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Helvetica Neue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18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02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1: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Developed analytics dashboard components.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2: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Added repository summarization and reporting modules.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3: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Conducted backend integration testing. 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Yes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8.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20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02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Helvetica Neue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25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02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1: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Enhanced user interaction and frontend navigation.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2: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Improved API response generation and workflow execution.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3: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Tested GitHub API operations and fixed bugs. 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Yes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9.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05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03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Helvetica Neue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10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03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1: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Finalized dashboard and activity visualization.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2: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Optimized backend logic and NLP processing.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3: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Prepared testing datasets and validation reports 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Yes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0F0DD"/>
                    </a:solidFill>
                  </a:tcPr>
                </a:tc>
              </a:tr>
              <a:tr h="82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10.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12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03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 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to</a:t>
                      </a:r>
                      <a:endParaRPr sz="14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Helvetica Neue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17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</a:t>
                      </a: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03</a:t>
                      </a:r>
                      <a:r>
                        <a:rPr b="0" i="0"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/2026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1: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Worked on frontend performance improvements.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2: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Enhanced summarization and analytics features.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Member 3:</a:t>
                      </a:r>
                      <a:r>
                        <a:rPr lang="en-IN" sz="11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Performed API stress testing and debugging. </a:t>
                      </a:r>
                      <a:endParaRPr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Arial"/>
                        <a:buNone/>
                      </a:pPr>
                      <a:r>
                        <a:rPr lang="en-IN" sz="1300" u="none" cap="none" strike="noStrike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Yes</a:t>
                      </a:r>
                      <a:endParaRPr b="0" i="0" sz="1300" u="none" cap="none" strike="noStrike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45725" marB="45725" marR="91450" marL="91450">
                    <a:solidFill>
                      <a:srgbClr val="F4F9E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64" name="Google Shape;264;p33"/>
          <p:cNvGraphicFramePr/>
          <p:nvPr/>
        </p:nvGraphicFramePr>
        <p:xfrm>
          <a:off x="2323275" y="1295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{EB4DBC44-3D10-42AA-8A79-17C6790D9962}</a:tableStyleId>
              </a:tblPr>
              <a:tblGrid>
                <a:gridCol w="4086225"/>
              </a:tblGrid>
              <a:tr h="54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/>
                        <a:t>Member 1:</a:t>
                      </a:r>
                      <a:r>
                        <a:rPr lang="en-IN" sz="1100" u="none" cap="none" strike="noStrike"/>
                        <a:t> Improved frontend responsiveness and UI styling.</a:t>
                      </a:r>
                      <a:endParaRPr sz="11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/>
                        <a:t>Member 2:</a:t>
                      </a:r>
                      <a:r>
                        <a:rPr lang="en-IN" sz="1100" u="none" cap="none" strike="noStrike"/>
                        <a:t> Added issue creation and PR management features.</a:t>
                      </a:r>
                      <a:endParaRPr sz="11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IN" sz="1100" u="none" cap="none" strike="noStrike"/>
                        <a:t>Member 3:</a:t>
                      </a:r>
                      <a:r>
                        <a:rPr lang="en-IN" sz="1100" u="none" cap="none" strike="noStrike"/>
                        <a:t> Implemented caching and error handling mechanisms.</a:t>
                      </a:r>
                      <a:endParaRPr sz="1100" u="none" cap="none" strike="noStrike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65" name="Google Shape;265;p33"/>
          <p:cNvGraphicFramePr/>
          <p:nvPr/>
        </p:nvGraphicFramePr>
        <p:xfrm>
          <a:off x="2475675" y="1447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{EB4DBC44-3D10-42AA-8A79-17C6790D9962}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266" name="Google Shape;266;p33"/>
          <p:cNvSpPr txBox="1"/>
          <p:nvPr/>
        </p:nvSpPr>
        <p:spPr>
          <a:xfrm>
            <a:off x="365100" y="5779150"/>
            <a:ext cx="8256000" cy="8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Github Link: https://github.com/GauravThakur04/AI-Agent-for-Github-Workflow-Automation</a:t>
            </a:r>
            <a:endParaRPr sz="18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4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References</a:t>
            </a:r>
            <a:endParaRPr/>
          </a:p>
        </p:txBody>
      </p:sp>
      <p:sp>
        <p:nvSpPr>
          <p:cNvPr id="272" name="Google Shape;272;p34"/>
          <p:cNvSpPr txBox="1"/>
          <p:nvPr/>
        </p:nvSpPr>
        <p:spPr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  A. Pindoriya and J. Velani, "Advancements in GitHub Automation and Workflow: A Comprehensive Exploration," 2025.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 X. Zhang, S. Muralee, S. Cherupattamooleyl, and A. Machiry, "On the Effectiveness of Large Language Models for GitHub Workflows,"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Purdue University, Preprint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2025.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[3] M. F. Wong, S. Guo, C. N. Ham, S. W. Ho, and C. W. Tan, "Natural Language Generation and Understanding of Big Code for AI-Assisted Programming: A Review,"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Technical Report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2025.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[4] T. Kinsman, M. Wessel, M. A. Gerosa, and C. Treude, "How Do Software Developers Use GitHub Actions to Automate Their Workflows?," in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Proc. Mining Software Repositories (MSR)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2021.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[5] L. Zheng, S. Li, X. Huang, and J. Huang, "Why Do GitHub Actions Workflows Fail? An Empirical Study,"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ACM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2024.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[6] P. Rostami Mazrae, A. Decan, T. Mens, and M. Wessel, "An Empirical Study of the Evolution of GitHub Actions Workflows,"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SSRN preprint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2025.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[7] A. Decan, T. Mens, and H. Onsori Delicheh, "On the Outdatedness of Workflows in the GitHub Actions Ecosystem,"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Journal of Systems and Software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2023.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[8] I. Ceka et al., "How Does LLM Reasoning Work for Code? A Survey and a Call to Action,"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arXiv preprint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2025.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[9] H. Jin et al., "Towards Advancing Code Generation with Large Language Models: A Research Roadmap,"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arXiv preprint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2025.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[10] J. Wang et al., "Enhancing Code LLMs with Reinforcement Learning in Code Generation: A Survey,"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arXiv preprint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2024.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[11] J. Jiang et al., "A Survey on Large Language Models for Code Generation,"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arXiv preprint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2024.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[12] X. Zhou et al., "An LLM-as-Judge Metric for Bridging the Gap with Human Evaluation in SE Tasks,"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arXiv preprint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2025.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[13] "AI2Agent: An End-to-End Framework for Deploying AI Projects as Autonomous Agents,"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arXiv preprint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2025.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[14] T. Masterman, S. Besen, M. Sawtell, and A. Chao, "The Landscape of Emerging AI Agent Architectures for Reasoning, Planning, and Tool Calling: A Survey,"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arXiv preprint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2024.</a:t>
            </a:r>
            <a:endParaRPr b="0" i="0" sz="18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5"/>
          <p:cNvSpPr txBox="1"/>
          <p:nvPr>
            <p:ph type="title"/>
          </p:nvPr>
        </p:nvSpPr>
        <p:spPr>
          <a:xfrm>
            <a:off x="40640" y="30480"/>
            <a:ext cx="8328752" cy="694064"/>
          </a:xfrm>
          <a:prstGeom prst="rect">
            <a:avLst/>
          </a:prstGeom>
          <a:solidFill>
            <a:srgbClr val="0037A4"/>
          </a:solidFill>
          <a:ln cap="flat" cmpd="sng" w="317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9048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IN" sz="2400"/>
              <a:t>References </a:t>
            </a:r>
            <a:r>
              <a:rPr b="0" lang="en-IN" sz="2400"/>
              <a:t>(cont…)</a:t>
            </a:r>
            <a:endParaRPr/>
          </a:p>
        </p:txBody>
      </p:sp>
      <p:sp>
        <p:nvSpPr>
          <p:cNvPr id="278" name="Google Shape;278;p35"/>
          <p:cNvSpPr txBox="1"/>
          <p:nvPr/>
        </p:nvSpPr>
        <p:spPr>
          <a:xfrm>
            <a:off x="77118" y="804231"/>
            <a:ext cx="8956714" cy="57948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[15] S. Joshi, "A Review of Generative AI and DevOps Pipelines: CI/CD, Agentic Automation, MLOps Integration, and Large Language Models,"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Preprints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2025.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[16] P. Valenzuela-Toledo, A. Bergel, T. Kehrer, and O. Nierstrasz, "The Hidden Costs of Automation: An Empirical Study on GitHub Actions Workflow Maintenance," in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Proc. 20th IEEE/ACM Int. Conf. on Mining Software Repositories (MSR)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2023.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[17] K. Liu et al., "ProjectEval: A Benchmark for Programming Agents Automated Evaluation on Project-Level Code Generation,"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arXiv preprint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2025.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[18] D. G. Paul, H. Zhu, and I. Bayley, "Benchmarks and Metrics for Evaluations of Code Generation: A Critical Review,"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arXiv preprint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2024.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[19] M. Baqar, S. Naqvi, and R. Khanda, "AI-Augmented CI/CD Pipelines: From Code Commit to Production with Autonomous Decisions,"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arXiv preprint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2024.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[20] A. Yehudai et al., "Survey on Evaluation of LLM-based Agents,"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arXiv preprint</a:t>
            </a: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2025.</a:t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[21] GitHub REST API Documentation. Available:</a:t>
            </a:r>
            <a:r>
              <a:rPr b="0" i="0" lang="en-IN" sz="1200" u="none" cap="none" strike="noStrike">
                <a:solidFill>
                  <a:schemeClr val="dk1"/>
                </a:solidFill>
                <a:uFill>
                  <a:noFill/>
                </a:uFill>
                <a:latin typeface="Helvetica Neue"/>
                <a:ea typeface="Helvetica Neue"/>
                <a:cs typeface="Helvetica Neue"/>
                <a:sym typeface="Helvetica Neue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b="0" i="0" lang="en-IN" sz="1200" u="sng" cap="none" strike="noStrike">
                <a:solidFill>
                  <a:schemeClr val="hlink"/>
                </a:solidFill>
                <a:latin typeface="Helvetica Neue"/>
                <a:ea typeface="Helvetica Neue"/>
                <a:cs typeface="Helvetica Neue"/>
                <a:sym typeface="Helvetica Neue"/>
                <a:hlinkClick r:id="rId4"/>
              </a:rPr>
              <a:t>https://docs.github.com/en/rest</a:t>
            </a:r>
            <a:endParaRPr b="0" i="0" sz="1200" u="sng" cap="none" strike="noStrike">
              <a:solidFill>
                <a:schemeClr val="hlink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[22] GitHub Archive Dataset (GH Archive).  Available:</a:t>
            </a:r>
            <a:r>
              <a:rPr b="0" i="0" lang="en-IN" sz="1200" u="none" cap="none" strike="noStrike">
                <a:solidFill>
                  <a:schemeClr val="dk1"/>
                </a:solidFill>
                <a:uFill>
                  <a:noFill/>
                </a:uFill>
                <a:latin typeface="Helvetica Neue"/>
                <a:ea typeface="Helvetica Neue"/>
                <a:cs typeface="Helvetica Neue"/>
                <a:sym typeface="Helvetica Neue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b="0" i="0" lang="en-IN" sz="1200" u="sng" cap="none" strike="noStrike">
                <a:solidFill>
                  <a:schemeClr val="hlink"/>
                </a:solidFill>
                <a:latin typeface="Helvetica Neue"/>
                <a:ea typeface="Helvetica Neue"/>
                <a:cs typeface="Helvetica Neue"/>
                <a:sym typeface="Helvetica Neue"/>
                <a:hlinkClick r:id="rId6"/>
              </a:rPr>
              <a:t>https://www.gharchive.org</a:t>
            </a:r>
            <a:endParaRPr b="0" i="0" sz="1200" u="sng" cap="none" strike="noStrike">
              <a:solidFill>
                <a:schemeClr val="hlink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[23] Kalliamvakou, E., et al. (2016).  </a:t>
            </a:r>
            <a:r>
              <a:rPr b="0" i="1" lang="en-IN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 In-depth Study of the Promises and Perils of Mining GitHub</a:t>
            </a:r>
            <a:endParaRPr b="0" i="1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7"/>
          <p:cNvSpPr txBox="1"/>
          <p:nvPr/>
        </p:nvSpPr>
        <p:spPr>
          <a:xfrm>
            <a:off x="77118" y="804231"/>
            <a:ext cx="8956714" cy="596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9525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5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95250" marR="0" rtl="0" algn="just">
              <a:lnSpc>
                <a:spcPct val="15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175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95250" marR="0" rtl="0" algn="just">
              <a:lnSpc>
                <a:spcPct val="15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175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95250" marR="0" rtl="0" algn="just">
              <a:lnSpc>
                <a:spcPct val="15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175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95250" marR="0" rtl="0" algn="just">
              <a:lnSpc>
                <a:spcPct val="150000"/>
              </a:lnSpc>
              <a:spcBef>
                <a:spcPts val="490"/>
              </a:spcBef>
              <a:spcAft>
                <a:spcPts val="0"/>
              </a:spcAft>
              <a:buClr>
                <a:schemeClr val="dk1"/>
              </a:buClr>
              <a:buSzPts val="175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95250" marR="0" rtl="0" algn="ctr">
              <a:lnSpc>
                <a:spcPct val="15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t/>
            </a:r>
            <a:endParaRPr b="1" i="0" sz="20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95250" marR="0" rtl="0" algn="ctr">
              <a:lnSpc>
                <a:spcPct val="15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i="0" lang="en-IN" sz="20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Thanks</a:t>
            </a:r>
            <a:r>
              <a:rPr b="0" i="0" lang="en-IN" sz="14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🙏" id="284" name="Google Shape;284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89164" y="2663328"/>
            <a:ext cx="765672" cy="7656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os-8">
  <a:themeElements>
    <a:clrScheme name="Custom 1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002060"/>
      </a:hlink>
      <a:folHlink>
        <a:srgbClr val="0070C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2008-07-20T15:16:37Z</dcterms:created>
  <dc:creator>Marilyn Turnamian</dc:creator>
</cp:coreProperties>
</file>